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9144000" cy="5143500" type="screen16x9"/>
  <p:notesSz cx="5143500" cy="9144000"/>
  <p:embeddedFontLst>
    <p:embeddedFont>
      <p:font typeface="JetBrains Mono" panose="020B0604020202020204" charset="0"/>
      <p:regular r:id="rId10"/>
    </p:embeddedFont>
    <p:embeddedFont>
      <p:font typeface="Manrope" panose="020B0604020202020204" charset="0"/>
      <p:regular r:id="rId1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259929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Before presenting, clear the tips below to add your presentation notes, speech and other important points to remember here*
Title Page Tips
Keep it concise and clear
Include the title of the presentation, your name, and the date
Company logo (optional)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Before presenting, clear the tips below to add your presentation notes, speech and other important points to remember here*
Constraints Page Tips
Identify any limitations or constraints that impacted the design process.
These could be technical, budgetary, time-related, or resource-based.
Explain how these constraints were managed or addressed.
What stood in the way of your team achieving your goal? 
What’s are the risks?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Before presenting, clear the tips below to add your presentation notes, speech and other important points to remember here*
Overview Page Tips
You might want to start with an attention grabber.
But majorly, this is where you give a brief sentence and overview on the subject.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Before presenting, clear the tips below to add your presentation notes, speech and other important points to remember here*
Problem Statement Page Tips
Clearly define the problem or challenge that the redesign aims to address.
Use concise language for clarity.
Explain the impact of the problem on users and the business.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Before presenting, clear the tips below to add your presentation notes, speech and other important points to remember here*
Solution Inspection Tip: 
Showcase the redesigned UI/UX through high-fidelity mockups or prototypes.
Briefly explain how the design addresses the identified problems.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Before presenting, clear the tips below to add your presentation notes, speech and other important points to remember here*
Outcomes Comparison Page Tips
Compare the old and new user experiences.
Use before-and-after visuals, side-by-side comparisons, or data to show improvements.
Highlight the benefits and positive impacts of the redesign.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18.png"/><Relationship Id="rId7"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 Id="rId9"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569ED"/>
        </a:solidFill>
        <a:effectLst/>
      </p:bgPr>
    </p:bg>
    <p:spTree>
      <p:nvGrpSpPr>
        <p:cNvPr id="1" name=""/>
        <p:cNvGrpSpPr/>
        <p:nvPr/>
      </p:nvGrpSpPr>
      <p:grpSpPr>
        <a:xfrm>
          <a:off x="0" y="0"/>
          <a:ext cx="0" cy="0"/>
          <a:chOff x="0" y="0"/>
          <a:chExt cx="0" cy="0"/>
        </a:xfrm>
      </p:grpSpPr>
      <p:sp>
        <p:nvSpPr>
          <p:cNvPr id="2" name="Text 0"/>
          <p:cNvSpPr/>
          <p:nvPr/>
        </p:nvSpPr>
        <p:spPr>
          <a:xfrm>
            <a:off x="566738" y="1652588"/>
            <a:ext cx="4129088" cy="1562100"/>
          </a:xfrm>
          <a:prstGeom prst="rect">
            <a:avLst/>
          </a:prstGeom>
          <a:noFill/>
          <a:ln/>
        </p:spPr>
        <p:txBody>
          <a:bodyPr wrap="square" lIns="0" tIns="0" rIns="0" bIns="0" rtlCol="0" anchor="t"/>
          <a:lstStyle/>
          <a:p>
            <a:pPr marL="0" indent="0" algn="l">
              <a:lnSpc>
                <a:spcPts val="2913"/>
              </a:lnSpc>
              <a:buNone/>
            </a:pPr>
            <a:r>
              <a:rPr lang="en-US" sz="2428" b="1" kern="0" spc="-49" dirty="0">
                <a:solidFill>
                  <a:srgbClr val="FAFBFF">
                    <a:alpha val="99000"/>
                  </a:srgbClr>
                </a:solidFill>
                <a:latin typeface="Manrope" pitchFamily="34" charset="0"/>
                <a:ea typeface="Manrope" pitchFamily="34" charset="-122"/>
                <a:cs typeface="Manrope" pitchFamily="34" charset="-120"/>
              </a:rPr>
              <a:t>Келажак тиббиёти — инсон тажрибаси ва сунъий интеллект уйғунлиги.</a:t>
            </a:r>
            <a:endParaRPr lang="en-US" sz="2428" dirty="0"/>
          </a:p>
        </p:txBody>
      </p:sp>
      <p:sp>
        <p:nvSpPr>
          <p:cNvPr id="3" name="Text 1"/>
          <p:cNvSpPr/>
          <p:nvPr/>
        </p:nvSpPr>
        <p:spPr>
          <a:xfrm>
            <a:off x="566738" y="4033837"/>
            <a:ext cx="2005013" cy="285750"/>
          </a:xfrm>
          <a:prstGeom prst="rect">
            <a:avLst/>
          </a:prstGeom>
          <a:noFill/>
          <a:ln/>
        </p:spPr>
        <p:txBody>
          <a:bodyPr wrap="square" lIns="0" tIns="0" rIns="0" bIns="0" rtlCol="0" anchor="t"/>
          <a:lstStyle/>
          <a:p>
            <a:pPr marL="0" indent="0" algn="l">
              <a:lnSpc>
                <a:spcPts val="2138"/>
              </a:lnSpc>
              <a:buNone/>
            </a:pPr>
            <a:r>
              <a:rPr lang="en-US" sz="1710" b="1" kern="0" spc="-26" dirty="0">
                <a:solidFill>
                  <a:srgbClr val="FAFBFF">
                    <a:alpha val="99000"/>
                  </a:srgbClr>
                </a:solidFill>
                <a:latin typeface="Manrope" pitchFamily="34" charset="0"/>
                <a:ea typeface="Manrope" pitchFamily="34" charset="-122"/>
                <a:cs typeface="Manrope" pitchFamily="34" charset="-120"/>
              </a:rPr>
              <a:t>Grava Star jamoasi</a:t>
            </a:r>
            <a:endParaRPr lang="en-US" sz="1710" dirty="0"/>
          </a:p>
        </p:txBody>
      </p:sp>
      <p:sp>
        <p:nvSpPr>
          <p:cNvPr id="4" name="Text 2"/>
          <p:cNvSpPr/>
          <p:nvPr/>
        </p:nvSpPr>
        <p:spPr>
          <a:xfrm>
            <a:off x="5991225" y="214313"/>
            <a:ext cx="2185988" cy="971550"/>
          </a:xfrm>
          <a:prstGeom prst="rect">
            <a:avLst/>
          </a:prstGeom>
          <a:noFill/>
          <a:ln/>
        </p:spPr>
        <p:txBody>
          <a:bodyPr wrap="square" lIns="0" tIns="0" rIns="0" bIns="0" rtlCol="0" anchor="t"/>
          <a:lstStyle/>
          <a:p>
            <a:pPr marL="0" indent="0" algn="l">
              <a:lnSpc>
                <a:spcPts val="1833"/>
              </a:lnSpc>
              <a:buNone/>
            </a:pPr>
            <a:r>
              <a:rPr lang="en-US" sz="1466" b="1" kern="0" spc="-22" dirty="0">
                <a:solidFill>
                  <a:srgbClr val="FAFBFF">
                    <a:alpha val="99000"/>
                  </a:srgbClr>
                </a:solidFill>
                <a:latin typeface="JetBrains Mono" pitchFamily="34" charset="0"/>
                <a:ea typeface="JetBrains Mono" pitchFamily="34" charset="-122"/>
                <a:cs typeface="JetBrains Mono" pitchFamily="34" charset="-120"/>
              </a:rPr>
              <a:t>National AI hackathon: </a:t>
            </a:r>
            <a:r>
              <a:rPr lang="en-US" sz="1466" b="1" kern="0" spc="-22" dirty="0" err="1">
                <a:solidFill>
                  <a:srgbClr val="FAFBFF">
                    <a:alpha val="99000"/>
                  </a:srgbClr>
                </a:solidFill>
                <a:latin typeface="JetBrains Mono" pitchFamily="34" charset="0"/>
                <a:ea typeface="JetBrains Mono" pitchFamily="34" charset="-122"/>
                <a:cs typeface="JetBrains Mono" pitchFamily="34" charset="-120"/>
              </a:rPr>
              <a:t>Qarshi</a:t>
            </a:r>
            <a:r>
              <a:rPr lang="en-US" sz="1466" b="1" kern="0" spc="-22" dirty="0">
                <a:solidFill>
                  <a:srgbClr val="FAFBFF">
                    <a:alpha val="99000"/>
                  </a:srgbClr>
                </a:solidFill>
                <a:latin typeface="JetBrains Mono" pitchFamily="34" charset="0"/>
                <a:ea typeface="JetBrains Mono" pitchFamily="34" charset="-122"/>
                <a:cs typeface="JetBrains Mono" pitchFamily="34" charset="-120"/>
              </a:rPr>
              <a:t> </a:t>
            </a:r>
            <a:br>
              <a:rPr lang="ru-RU" sz="1466" b="1" kern="0" spc="-22" dirty="0">
                <a:solidFill>
                  <a:srgbClr val="FAFBFF">
                    <a:alpha val="99000"/>
                  </a:srgbClr>
                </a:solidFill>
                <a:latin typeface="JetBrains Mono" pitchFamily="34" charset="0"/>
                <a:ea typeface="JetBrains Mono" pitchFamily="34" charset="-122"/>
                <a:cs typeface="JetBrains Mono" pitchFamily="34" charset="-120"/>
              </a:rPr>
            </a:br>
            <a:r>
              <a:rPr lang="en-US" sz="1466" b="1" kern="0" spc="-22" dirty="0">
                <a:solidFill>
                  <a:srgbClr val="FAFBFF">
                    <a:alpha val="99000"/>
                  </a:srgbClr>
                </a:solidFill>
                <a:latin typeface="JetBrains Mono" pitchFamily="34" charset="0"/>
                <a:ea typeface="JetBrains Mono" pitchFamily="34" charset="-122"/>
                <a:cs typeface="JetBrains Mono" pitchFamily="34" charset="-120"/>
              </a:rPr>
              <a:t>}}</a:t>
            </a:r>
            <a:endParaRPr lang="en-US" sz="1466" dirty="0"/>
          </a:p>
        </p:txBody>
      </p:sp>
      <p:pic>
        <p:nvPicPr>
          <p:cNvPr id="5" name="Image 0" descr="preencoded.png"/>
          <p:cNvPicPr>
            <a:picLocks noChangeAspect="1"/>
          </p:cNvPicPr>
          <p:nvPr/>
        </p:nvPicPr>
        <p:blipFill>
          <a:blip r:embed="rId3"/>
          <a:srcRect r="8642" b="9328"/>
          <a:stretch/>
        </p:blipFill>
        <p:spPr>
          <a:xfrm>
            <a:off x="4821515" y="828661"/>
            <a:ext cx="191366" cy="183314"/>
          </a:xfrm>
          <a:prstGeom prst="rect">
            <a:avLst/>
          </a:prstGeom>
        </p:spPr>
      </p:pic>
      <p:pic>
        <p:nvPicPr>
          <p:cNvPr id="6" name="Image 1" descr="preencoded.png"/>
          <p:cNvPicPr>
            <a:picLocks noChangeAspect="1"/>
          </p:cNvPicPr>
          <p:nvPr/>
        </p:nvPicPr>
        <p:blipFill>
          <a:blip r:embed="rId4"/>
          <a:srcRect r="2570" b="2631"/>
          <a:stretch/>
        </p:blipFill>
        <p:spPr>
          <a:xfrm>
            <a:off x="4560968" y="1214635"/>
            <a:ext cx="353223" cy="95484"/>
          </a:xfrm>
          <a:prstGeom prst="rect">
            <a:avLst/>
          </a:prstGeom>
        </p:spPr>
      </p:pic>
      <p:pic>
        <p:nvPicPr>
          <p:cNvPr id="7" name="Image 2" descr="preencoded.png"/>
          <p:cNvPicPr>
            <a:picLocks noChangeAspect="1"/>
          </p:cNvPicPr>
          <p:nvPr/>
        </p:nvPicPr>
        <p:blipFill>
          <a:blip r:embed="rId5"/>
          <a:srcRect r="1634" b="22606"/>
          <a:stretch/>
        </p:blipFill>
        <p:spPr>
          <a:xfrm>
            <a:off x="4560939" y="987520"/>
            <a:ext cx="156089" cy="86985"/>
          </a:xfrm>
          <a:prstGeom prst="rect">
            <a:avLst/>
          </a:prstGeom>
        </p:spPr>
      </p:pic>
      <p:pic>
        <p:nvPicPr>
          <p:cNvPr id="8" name="Image 3" descr="preencoded.png"/>
          <p:cNvPicPr>
            <a:picLocks noChangeAspect="1"/>
          </p:cNvPicPr>
          <p:nvPr/>
        </p:nvPicPr>
        <p:blipFill>
          <a:blip r:embed="rId6"/>
          <a:srcRect r="1828" b="12169"/>
          <a:stretch/>
        </p:blipFill>
        <p:spPr>
          <a:xfrm>
            <a:off x="4495105" y="577222"/>
            <a:ext cx="139425" cy="152468"/>
          </a:xfrm>
          <a:prstGeom prst="rect">
            <a:avLst/>
          </a:prstGeom>
        </p:spPr>
      </p:pic>
      <p:pic>
        <p:nvPicPr>
          <p:cNvPr id="9" name="Image 4" descr="preencoded.png"/>
          <p:cNvPicPr>
            <a:picLocks noChangeAspect="1"/>
          </p:cNvPicPr>
          <p:nvPr/>
        </p:nvPicPr>
        <p:blipFill>
          <a:blip r:embed="rId7"/>
          <a:srcRect r="5780" b="5349"/>
          <a:stretch/>
        </p:blipFill>
        <p:spPr>
          <a:xfrm>
            <a:off x="3703798" y="461963"/>
            <a:ext cx="1015233" cy="686976"/>
          </a:xfrm>
          <a:prstGeom prst="rect">
            <a:avLst/>
          </a:prstGeom>
        </p:spPr>
      </p:pic>
      <p:sp>
        <p:nvSpPr>
          <p:cNvPr id="10" name="Shape 3"/>
          <p:cNvSpPr/>
          <p:nvPr/>
        </p:nvSpPr>
        <p:spPr>
          <a:xfrm>
            <a:off x="7272338" y="-642937"/>
            <a:ext cx="1285875" cy="6429312"/>
          </a:xfrm>
          <a:prstGeom prst="rect">
            <a:avLst/>
          </a:prstGeom>
          <a:noFill/>
          <a:ln/>
        </p:spPr>
        <p:txBody>
          <a:bodyPr/>
          <a:lstStyle/>
          <a:p>
            <a:endParaRPr lang="ru-RU"/>
          </a:p>
        </p:txBody>
      </p:sp>
      <p:sp>
        <p:nvSpPr>
          <p:cNvPr id="11" name="Shape 4"/>
          <p:cNvSpPr/>
          <p:nvPr/>
        </p:nvSpPr>
        <p:spPr>
          <a:xfrm>
            <a:off x="7272338" y="-642937"/>
            <a:ext cx="1285854" cy="1285854"/>
          </a:xfrm>
          <a:prstGeom prst="rect">
            <a:avLst/>
          </a:prstGeom>
          <a:noFill/>
          <a:ln/>
        </p:spPr>
        <p:txBody>
          <a:bodyPr/>
          <a:lstStyle/>
          <a:p>
            <a:endParaRPr lang="ru-RU"/>
          </a:p>
        </p:txBody>
      </p:sp>
      <p:sp>
        <p:nvSpPr>
          <p:cNvPr id="12" name="Shape 5"/>
          <p:cNvSpPr/>
          <p:nvPr/>
        </p:nvSpPr>
        <p:spPr>
          <a:xfrm>
            <a:off x="7452641" y="-462634"/>
            <a:ext cx="923325" cy="923325"/>
          </a:xfrm>
          <a:prstGeom prst="ellipse">
            <a:avLst/>
          </a:prstGeom>
          <a:solidFill>
            <a:srgbClr val="FAFBFF"/>
          </a:solidFill>
          <a:ln/>
        </p:spPr>
        <p:txBody>
          <a:bodyPr/>
          <a:lstStyle/>
          <a:p>
            <a:endParaRPr lang="ru-RU"/>
          </a:p>
        </p:txBody>
      </p:sp>
      <p:sp>
        <p:nvSpPr>
          <p:cNvPr id="13" name="Shape 6"/>
          <p:cNvSpPr/>
          <p:nvPr/>
        </p:nvSpPr>
        <p:spPr>
          <a:xfrm>
            <a:off x="7272338" y="642917"/>
            <a:ext cx="1285875" cy="1285875"/>
          </a:xfrm>
          <a:prstGeom prst="triangle">
            <a:avLst/>
          </a:prstGeom>
          <a:solidFill>
            <a:srgbClr val="FAFBFF"/>
          </a:solidFill>
          <a:ln/>
        </p:spPr>
        <p:txBody>
          <a:bodyPr/>
          <a:lstStyle/>
          <a:p>
            <a:endParaRPr lang="ru-RU"/>
          </a:p>
        </p:txBody>
      </p:sp>
      <p:sp>
        <p:nvSpPr>
          <p:cNvPr id="14" name="Shape 7"/>
          <p:cNvSpPr/>
          <p:nvPr/>
        </p:nvSpPr>
        <p:spPr>
          <a:xfrm>
            <a:off x="7272338" y="1928792"/>
            <a:ext cx="1285854" cy="1285854"/>
          </a:xfrm>
          <a:prstGeom prst="rect">
            <a:avLst/>
          </a:prstGeom>
          <a:noFill/>
          <a:ln/>
        </p:spPr>
        <p:txBody>
          <a:bodyPr/>
          <a:lstStyle/>
          <a:p>
            <a:endParaRPr lang="ru-RU"/>
          </a:p>
        </p:txBody>
      </p:sp>
      <p:sp>
        <p:nvSpPr>
          <p:cNvPr id="15" name="Shape 8"/>
          <p:cNvSpPr/>
          <p:nvPr/>
        </p:nvSpPr>
        <p:spPr>
          <a:xfrm>
            <a:off x="7491625" y="2148079"/>
            <a:ext cx="846381" cy="846381"/>
          </a:xfrm>
          <a:prstGeom prst="roundRect">
            <a:avLst/>
          </a:prstGeom>
          <a:solidFill>
            <a:srgbClr val="FAFBFF"/>
          </a:solidFill>
          <a:ln/>
        </p:spPr>
        <p:txBody>
          <a:bodyPr/>
          <a:lstStyle/>
          <a:p>
            <a:endParaRPr lang="ru-RU"/>
          </a:p>
        </p:txBody>
      </p:sp>
      <p:sp>
        <p:nvSpPr>
          <p:cNvPr id="16" name="Shape 9"/>
          <p:cNvSpPr/>
          <p:nvPr/>
        </p:nvSpPr>
        <p:spPr>
          <a:xfrm>
            <a:off x="7272338" y="3214645"/>
            <a:ext cx="1285854" cy="1285854"/>
          </a:xfrm>
          <a:prstGeom prst="rect">
            <a:avLst/>
          </a:prstGeom>
          <a:noFill/>
          <a:ln/>
        </p:spPr>
        <p:txBody>
          <a:bodyPr/>
          <a:lstStyle/>
          <a:p>
            <a:endParaRPr lang="ru-RU"/>
          </a:p>
        </p:txBody>
      </p:sp>
      <p:sp>
        <p:nvSpPr>
          <p:cNvPr id="17" name="Shape 10"/>
          <p:cNvSpPr/>
          <p:nvPr/>
        </p:nvSpPr>
        <p:spPr>
          <a:xfrm>
            <a:off x="7452641" y="3394948"/>
            <a:ext cx="923325" cy="923325"/>
          </a:xfrm>
          <a:prstGeom prst="ellipse">
            <a:avLst/>
          </a:prstGeom>
          <a:solidFill>
            <a:srgbClr val="FAFBFF"/>
          </a:solidFill>
          <a:ln/>
        </p:spPr>
        <p:txBody>
          <a:bodyPr/>
          <a:lstStyle/>
          <a:p>
            <a:endParaRPr lang="ru-RU"/>
          </a:p>
        </p:txBody>
      </p:sp>
      <p:sp>
        <p:nvSpPr>
          <p:cNvPr id="18" name="Shape 11"/>
          <p:cNvSpPr/>
          <p:nvPr/>
        </p:nvSpPr>
        <p:spPr>
          <a:xfrm>
            <a:off x="7272338" y="4500499"/>
            <a:ext cx="1285875" cy="1285875"/>
          </a:xfrm>
          <a:prstGeom prst="triangle">
            <a:avLst/>
          </a:prstGeom>
          <a:solidFill>
            <a:srgbClr val="FAFBFF"/>
          </a:solidFill>
          <a:ln/>
        </p:spPr>
        <p:txBody>
          <a:bodyPr/>
          <a:lstStyle/>
          <a:p>
            <a:endParaRPr lang="ru-RU"/>
          </a:p>
        </p:txBody>
      </p:sp>
      <p:pic>
        <p:nvPicPr>
          <p:cNvPr id="19" name="Image 5" descr="preencoded.png"/>
          <p:cNvPicPr>
            <a:picLocks noChangeAspect="1"/>
          </p:cNvPicPr>
          <p:nvPr/>
        </p:nvPicPr>
        <p:blipFill>
          <a:blip r:embed="rId8"/>
          <a:srcRect/>
          <a:stretch/>
        </p:blipFill>
        <p:spPr>
          <a:xfrm>
            <a:off x="5029200" y="1419225"/>
            <a:ext cx="3148013" cy="314801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BFF"/>
        </a:solidFill>
        <a:effectLst/>
      </p:bgPr>
    </p:bg>
    <p:spTree>
      <p:nvGrpSpPr>
        <p:cNvPr id="1" name=""/>
        <p:cNvGrpSpPr/>
        <p:nvPr/>
      </p:nvGrpSpPr>
      <p:grpSpPr>
        <a:xfrm>
          <a:off x="0" y="0"/>
          <a:ext cx="0" cy="0"/>
          <a:chOff x="0" y="0"/>
          <a:chExt cx="0" cy="0"/>
        </a:xfrm>
      </p:grpSpPr>
      <p:sp>
        <p:nvSpPr>
          <p:cNvPr id="3" name="Text 0"/>
          <p:cNvSpPr/>
          <p:nvPr/>
        </p:nvSpPr>
        <p:spPr>
          <a:xfrm>
            <a:off x="290513" y="104775"/>
            <a:ext cx="7358063" cy="1095375"/>
          </a:xfrm>
          <a:prstGeom prst="rect">
            <a:avLst/>
          </a:prstGeom>
          <a:noFill/>
          <a:ln/>
        </p:spPr>
        <p:txBody>
          <a:bodyPr wrap="square" lIns="0" tIns="0" rIns="0" bIns="0" rtlCol="0" anchor="t"/>
          <a:lstStyle/>
          <a:p>
            <a:pPr marL="0" indent="0" algn="ctr">
              <a:lnSpc>
                <a:spcPts val="4104"/>
              </a:lnSpc>
              <a:buNone/>
            </a:pPr>
            <a:r>
              <a:rPr lang="en-US" sz="3420" b="1" kern="0" spc="-68" dirty="0">
                <a:solidFill>
                  <a:srgbClr val="000614">
                    <a:alpha val="99000"/>
                  </a:srgbClr>
                </a:solidFill>
                <a:latin typeface="Manrope" pitchFamily="34" charset="0"/>
                <a:ea typeface="Manrope" pitchFamily="34" charset="-122"/>
                <a:cs typeface="Manrope" pitchFamily="34" charset="-120"/>
              </a:rPr>
              <a:t>Хусусий </a:t>
            </a:r>
            <a:r>
              <a:rPr lang="en-US" sz="3420" b="1" kern="0" spc="-68" dirty="0" err="1">
                <a:solidFill>
                  <a:srgbClr val="000614">
                    <a:alpha val="99000"/>
                  </a:srgbClr>
                </a:solidFill>
                <a:latin typeface="Manrope" pitchFamily="34" charset="0"/>
                <a:ea typeface="Manrope" pitchFamily="34" charset="-122"/>
                <a:cs typeface="Manrope" pitchFamily="34" charset="-120"/>
              </a:rPr>
              <a:t>клиникалардаги</a:t>
            </a:r>
            <a:r>
              <a:rPr lang="en-US" sz="3420" b="1" kern="0" spc="-68" dirty="0">
                <a:solidFill>
                  <a:srgbClr val="000614">
                    <a:alpha val="99000"/>
                  </a:srgbClr>
                </a:solidFill>
                <a:latin typeface="Manrope" pitchFamily="34" charset="0"/>
                <a:ea typeface="Manrope" pitchFamily="34" charset="-122"/>
                <a:cs typeface="Manrope" pitchFamily="34" charset="-120"/>
              </a:rPr>
              <a:t> </a:t>
            </a:r>
            <a:r>
              <a:rPr lang="en-US" sz="3420" b="1" kern="0" spc="-68" dirty="0" err="1">
                <a:solidFill>
                  <a:srgbClr val="000614">
                    <a:alpha val="99000"/>
                  </a:srgbClr>
                </a:solidFill>
                <a:latin typeface="Manrope" pitchFamily="34" charset="0"/>
                <a:ea typeface="Manrope" pitchFamily="34" charset="-122"/>
                <a:cs typeface="Manrope" pitchFamily="34" charset="-120"/>
              </a:rPr>
              <a:t>асосий</a:t>
            </a:r>
            <a:r>
              <a:rPr lang="en-US" sz="3420" b="1" kern="0" spc="-68" dirty="0">
                <a:solidFill>
                  <a:srgbClr val="000614">
                    <a:alpha val="99000"/>
                  </a:srgbClr>
                </a:solidFill>
                <a:latin typeface="Manrope" pitchFamily="34" charset="0"/>
                <a:ea typeface="Manrope" pitchFamily="34" charset="-122"/>
                <a:cs typeface="Manrope" pitchFamily="34" charset="-120"/>
              </a:rPr>
              <a:t> муаммолар</a:t>
            </a:r>
            <a:endParaRPr lang="en-US" sz="3420" dirty="0"/>
          </a:p>
        </p:txBody>
      </p:sp>
      <p:sp>
        <p:nvSpPr>
          <p:cNvPr id="4" name="Text 1"/>
          <p:cNvSpPr/>
          <p:nvPr/>
        </p:nvSpPr>
        <p:spPr>
          <a:xfrm>
            <a:off x="452437" y="1450714"/>
            <a:ext cx="7519988" cy="3281363"/>
          </a:xfrm>
          <a:prstGeom prst="rect">
            <a:avLst/>
          </a:prstGeom>
          <a:noFill/>
          <a:ln/>
        </p:spPr>
        <p:txBody>
          <a:bodyPr wrap="square" lIns="0" tIns="0" rIns="0" bIns="0" rtlCol="0" anchor="t"/>
          <a:lstStyle/>
          <a:p>
            <a:pPr marL="342900" indent="-342900" algn="l">
              <a:lnSpc>
                <a:spcPts val="1870"/>
              </a:lnSpc>
              <a:buSzPct val="100000"/>
              <a:buFont typeface="+mj-lt"/>
              <a:buAutoNum type="arabicPeriod"/>
            </a:pPr>
            <a:r>
              <a:rPr lang="en-US" sz="1496" b="1" kern="0" spc="-22" dirty="0">
                <a:solidFill>
                  <a:srgbClr val="000614">
                    <a:alpha val="99000"/>
                  </a:srgbClr>
                </a:solidFill>
                <a:latin typeface="Manrope" pitchFamily="34" charset="0"/>
                <a:ea typeface="Manrope" pitchFamily="34" charset="-122"/>
                <a:cs typeface="Manrope" pitchFamily="34" charset="-120"/>
              </a:rPr>
              <a:t> Тиббий </a:t>
            </a:r>
            <a:r>
              <a:rPr lang="en-US" sz="1496" b="1" kern="0" spc="-22" dirty="0" err="1">
                <a:solidFill>
                  <a:srgbClr val="000614">
                    <a:alpha val="99000"/>
                  </a:srgbClr>
                </a:solidFill>
                <a:latin typeface="Manrope" pitchFamily="34" charset="0"/>
                <a:ea typeface="Manrope" pitchFamily="34" charset="-122"/>
                <a:cs typeface="Manrope" pitchFamily="34" charset="-120"/>
              </a:rPr>
              <a:t>маълумотлар</a:t>
            </a:r>
            <a:r>
              <a:rPr lang="en-US" sz="1496" b="1" kern="0" spc="-22" dirty="0">
                <a:solidFill>
                  <a:srgbClr val="000614">
                    <a:alpha val="99000"/>
                  </a:srgbClr>
                </a:solidFill>
                <a:latin typeface="Manrope" pitchFamily="34" charset="0"/>
                <a:ea typeface="Manrope" pitchFamily="34" charset="-122"/>
                <a:cs typeface="Manrope" pitchFamily="34" charset="-120"/>
              </a:rPr>
              <a:t> </a:t>
            </a:r>
            <a:r>
              <a:rPr lang="en-US" sz="1496" b="1" kern="0" spc="-22" dirty="0" err="1">
                <a:solidFill>
                  <a:srgbClr val="000614">
                    <a:alpha val="99000"/>
                  </a:srgbClr>
                </a:solidFill>
                <a:latin typeface="Manrope" pitchFamily="34" charset="0"/>
                <a:ea typeface="Manrope" pitchFamily="34" charset="-122"/>
                <a:cs typeface="Manrope" pitchFamily="34" charset="-120"/>
              </a:rPr>
              <a:t>тарқоқ</a:t>
            </a:r>
            <a:r>
              <a:rPr lang="ru-RU" sz="1496" b="1" kern="0" spc="-22" dirty="0">
                <a:solidFill>
                  <a:srgbClr val="000614">
                    <a:alpha val="99000"/>
                  </a:srgbClr>
                </a:solidFill>
                <a:latin typeface="Manrope" pitchFamily="34" charset="0"/>
                <a:ea typeface="Manrope" pitchFamily="34" charset="-122"/>
                <a:cs typeface="Manrope" pitchFamily="34" charset="-120"/>
              </a:rPr>
              <a:t> </a:t>
            </a:r>
            <a:r>
              <a:rPr lang="en-US" sz="1496" b="1" kern="0" spc="-22" dirty="0">
                <a:solidFill>
                  <a:srgbClr val="000614">
                    <a:alpha val="99000"/>
                  </a:srgbClr>
                </a:solidFill>
                <a:latin typeface="Manrope" pitchFamily="34" charset="0"/>
                <a:ea typeface="Manrope" pitchFamily="34" charset="-122"/>
                <a:cs typeface="Manrope" pitchFamily="34" charset="-120"/>
              </a:rPr>
              <a:t> Анализлар, ЭКГ, тасвирлар ва анамнез турли </a:t>
            </a:r>
            <a:r>
              <a:rPr lang="en-US" sz="1496" b="1" kern="0" spc="-22" dirty="0" err="1">
                <a:solidFill>
                  <a:srgbClr val="000614">
                    <a:alpha val="99000"/>
                  </a:srgbClr>
                </a:solidFill>
                <a:latin typeface="Manrope" pitchFamily="34" charset="0"/>
                <a:ea typeface="Manrope" pitchFamily="34" charset="-122"/>
                <a:cs typeface="Manrope" pitchFamily="34" charset="-120"/>
              </a:rPr>
              <a:t>тизимларда</a:t>
            </a:r>
            <a:r>
              <a:rPr lang="en-US" sz="1496" b="1" kern="0" spc="-22" dirty="0">
                <a:solidFill>
                  <a:srgbClr val="000614">
                    <a:alpha val="99000"/>
                  </a:srgbClr>
                </a:solidFill>
                <a:latin typeface="Manrope" pitchFamily="34" charset="0"/>
                <a:ea typeface="Manrope" pitchFamily="34" charset="-122"/>
                <a:cs typeface="Manrope" pitchFamily="34" charset="-120"/>
              </a:rPr>
              <a:t>.</a:t>
            </a:r>
            <a:endParaRPr lang="en-US" sz="1496" dirty="0"/>
          </a:p>
          <a:p>
            <a:pPr marL="342900" indent="-342900" algn="l">
              <a:lnSpc>
                <a:spcPts val="1870"/>
              </a:lnSpc>
              <a:buSzPct val="100000"/>
              <a:buFont typeface="+mj-lt"/>
              <a:buAutoNum type="arabicPeriod"/>
            </a:pPr>
            <a:r>
              <a:rPr lang="en-US" sz="1496" b="1" kern="0" spc="-22" dirty="0">
                <a:solidFill>
                  <a:srgbClr val="000614">
                    <a:alpha val="99000"/>
                  </a:srgbClr>
                </a:solidFill>
                <a:latin typeface="Manrope" pitchFamily="34" charset="0"/>
                <a:ea typeface="Manrope" pitchFamily="34" charset="-122"/>
                <a:cs typeface="Manrope" pitchFamily="34" charset="-120"/>
              </a:rPr>
              <a:t> Шифокор вақти </a:t>
            </a:r>
            <a:r>
              <a:rPr lang="en-US" sz="1496" b="1" kern="0" spc="-22" dirty="0" err="1">
                <a:solidFill>
                  <a:srgbClr val="000614">
                    <a:alpha val="99000"/>
                  </a:srgbClr>
                </a:solidFill>
                <a:latin typeface="Manrope" pitchFamily="34" charset="0"/>
                <a:ea typeface="Manrope" pitchFamily="34" charset="-122"/>
                <a:cs typeface="Manrope" pitchFamily="34" charset="-120"/>
              </a:rPr>
              <a:t>кўп</a:t>
            </a:r>
            <a:r>
              <a:rPr lang="en-US" sz="1496" b="1" kern="0" spc="-22" dirty="0">
                <a:solidFill>
                  <a:srgbClr val="000614">
                    <a:alpha val="99000"/>
                  </a:srgbClr>
                </a:solidFill>
                <a:latin typeface="Manrope" pitchFamily="34" charset="0"/>
                <a:ea typeface="Manrope" pitchFamily="34" charset="-122"/>
                <a:cs typeface="Manrope" pitchFamily="34" charset="-120"/>
              </a:rPr>
              <a:t> </a:t>
            </a:r>
            <a:r>
              <a:rPr lang="en-US" sz="1496" b="1" kern="0" spc="-22" dirty="0" err="1">
                <a:solidFill>
                  <a:srgbClr val="000614">
                    <a:alpha val="99000"/>
                  </a:srgbClr>
                </a:solidFill>
                <a:latin typeface="Manrope" pitchFamily="34" charset="0"/>
                <a:ea typeface="Manrope" pitchFamily="34" charset="-122"/>
                <a:cs typeface="Manrope" pitchFamily="34" charset="-120"/>
              </a:rPr>
              <a:t>сарфланади</a:t>
            </a:r>
            <a:r>
              <a:rPr lang="en-US" sz="1496" b="1" kern="0" spc="-22" dirty="0">
                <a:solidFill>
                  <a:srgbClr val="000614">
                    <a:alpha val="99000"/>
                  </a:srgbClr>
                </a:solidFill>
                <a:latin typeface="Manrope" pitchFamily="34" charset="0"/>
                <a:ea typeface="Manrope" pitchFamily="34" charset="-122"/>
                <a:cs typeface="Manrope" pitchFamily="34" charset="-120"/>
              </a:rPr>
              <a:t> Маълумотларни йиғиш ва солиштириш қўлда амалга оширилади.</a:t>
            </a:r>
            <a:endParaRPr lang="en-US" sz="1496" dirty="0"/>
          </a:p>
          <a:p>
            <a:pPr marL="0" indent="0" algn="l">
              <a:lnSpc>
                <a:spcPts val="1870"/>
              </a:lnSpc>
              <a:buNone/>
            </a:pPr>
            <a:r>
              <a:rPr lang="en-US" sz="1496" b="1" kern="0" spc="-22" dirty="0">
                <a:solidFill>
                  <a:srgbClr val="000614">
                    <a:alpha val="99000"/>
                  </a:srgbClr>
                </a:solidFill>
                <a:latin typeface="Manrope" pitchFamily="34" charset="0"/>
                <a:ea typeface="Manrope" pitchFamily="34" charset="-122"/>
                <a:cs typeface="Manrope" pitchFamily="34" charset="-120"/>
              </a:rPr>
              <a:t>         Муҳим хавфлар </a:t>
            </a:r>
            <a:r>
              <a:rPr lang="en-US" sz="1496" b="1" kern="0" spc="-22" dirty="0" err="1">
                <a:solidFill>
                  <a:srgbClr val="000614">
                    <a:alpha val="99000"/>
                  </a:srgbClr>
                </a:solidFill>
                <a:latin typeface="Manrope" pitchFamily="34" charset="0"/>
                <a:ea typeface="Manrope" pitchFamily="34" charset="-122"/>
                <a:cs typeface="Manrope" pitchFamily="34" charset="-120"/>
              </a:rPr>
              <a:t>кеч</a:t>
            </a:r>
            <a:r>
              <a:rPr lang="en-US" sz="1496" b="1" kern="0" spc="-22" dirty="0">
                <a:solidFill>
                  <a:srgbClr val="000614">
                    <a:alpha val="99000"/>
                  </a:srgbClr>
                </a:solidFill>
                <a:latin typeface="Manrope" pitchFamily="34" charset="0"/>
                <a:ea typeface="Manrope" pitchFamily="34" charset="-122"/>
                <a:cs typeface="Manrope" pitchFamily="34" charset="-120"/>
              </a:rPr>
              <a:t> </a:t>
            </a:r>
            <a:r>
              <a:rPr lang="en-US" sz="1496" b="1" kern="0" spc="-22" dirty="0" err="1">
                <a:solidFill>
                  <a:srgbClr val="000614">
                    <a:alpha val="99000"/>
                  </a:srgbClr>
                </a:solidFill>
                <a:latin typeface="Manrope" pitchFamily="34" charset="0"/>
                <a:ea typeface="Manrope" pitchFamily="34" charset="-122"/>
                <a:cs typeface="Manrope" pitchFamily="34" charset="-120"/>
              </a:rPr>
              <a:t>аниқланади</a:t>
            </a:r>
            <a:br>
              <a:rPr lang="ru-RU" sz="1496" b="1" kern="0" spc="-22" dirty="0">
                <a:solidFill>
                  <a:srgbClr val="000614">
                    <a:alpha val="99000"/>
                  </a:srgbClr>
                </a:solidFill>
                <a:latin typeface="Manrope" pitchFamily="34" charset="0"/>
                <a:ea typeface="Manrope" pitchFamily="34" charset="-122"/>
                <a:cs typeface="Manrope" pitchFamily="34" charset="-120"/>
              </a:rPr>
            </a:br>
            <a:r>
              <a:rPr lang="en-US" sz="1496" b="1" kern="0" spc="-22" dirty="0">
                <a:solidFill>
                  <a:srgbClr val="000614">
                    <a:alpha val="99000"/>
                  </a:srgbClr>
                </a:solidFill>
                <a:latin typeface="Manrope" pitchFamily="34" charset="0"/>
                <a:ea typeface="Manrope" pitchFamily="34" charset="-122"/>
                <a:cs typeface="Manrope" pitchFamily="34" charset="-120"/>
              </a:rPr>
              <a:t>3.   Динамика ва ўзаро боғлиқ белгилар кўздан қочиши мумкин.</a:t>
            </a:r>
            <a:endParaRPr lang="en-US" sz="1496" dirty="0"/>
          </a:p>
          <a:p>
            <a:pPr marL="0" indent="0" algn="l">
              <a:lnSpc>
                <a:spcPts val="1870"/>
              </a:lnSpc>
              <a:buNone/>
            </a:pPr>
            <a:r>
              <a:rPr lang="en-US" sz="1496" b="1" kern="0" spc="-22" dirty="0">
                <a:solidFill>
                  <a:srgbClr val="000614">
                    <a:alpha val="99000"/>
                  </a:srgbClr>
                </a:solidFill>
                <a:latin typeface="Manrope" pitchFamily="34" charset="0"/>
                <a:ea typeface="Manrope" pitchFamily="34" charset="-122"/>
                <a:cs typeface="Manrope" pitchFamily="34" charset="-120"/>
              </a:rPr>
              <a:t>       Second opinion ҳар доим </a:t>
            </a:r>
            <a:r>
              <a:rPr lang="en-US" sz="1496" b="1" kern="0" spc="-22" dirty="0" err="1">
                <a:solidFill>
                  <a:srgbClr val="000614">
                    <a:alpha val="99000"/>
                  </a:srgbClr>
                </a:solidFill>
                <a:latin typeface="Manrope" pitchFamily="34" charset="0"/>
                <a:ea typeface="Manrope" pitchFamily="34" charset="-122"/>
                <a:cs typeface="Manrope" pitchFamily="34" charset="-120"/>
              </a:rPr>
              <a:t>мавжуд</a:t>
            </a:r>
            <a:r>
              <a:rPr lang="en-US" sz="1496" b="1" kern="0" spc="-22" dirty="0">
                <a:solidFill>
                  <a:srgbClr val="000614">
                    <a:alpha val="99000"/>
                  </a:srgbClr>
                </a:solidFill>
                <a:latin typeface="Manrope" pitchFamily="34" charset="0"/>
                <a:ea typeface="Manrope" pitchFamily="34" charset="-122"/>
                <a:cs typeface="Manrope" pitchFamily="34" charset="-120"/>
              </a:rPr>
              <a:t> </a:t>
            </a:r>
            <a:r>
              <a:rPr lang="en-US" sz="1496" b="1" kern="0" spc="-22" dirty="0" err="1">
                <a:solidFill>
                  <a:srgbClr val="000614">
                    <a:alpha val="99000"/>
                  </a:srgbClr>
                </a:solidFill>
                <a:latin typeface="Manrope" pitchFamily="34" charset="0"/>
                <a:ea typeface="Manrope" pitchFamily="34" charset="-122"/>
                <a:cs typeface="Manrope" pitchFamily="34" charset="-120"/>
              </a:rPr>
              <a:t>эмас</a:t>
            </a:r>
            <a:br>
              <a:rPr lang="ru-RU" sz="1496" b="1" kern="0" spc="-22" dirty="0">
                <a:solidFill>
                  <a:srgbClr val="000614">
                    <a:alpha val="99000"/>
                  </a:srgbClr>
                </a:solidFill>
                <a:latin typeface="Manrope" pitchFamily="34" charset="0"/>
                <a:ea typeface="Manrope" pitchFamily="34" charset="-122"/>
                <a:cs typeface="Manrope" pitchFamily="34" charset="-120"/>
              </a:rPr>
            </a:br>
            <a:r>
              <a:rPr lang="en-US" sz="1496" b="1" kern="0" spc="-22" dirty="0">
                <a:solidFill>
                  <a:srgbClr val="000614">
                    <a:alpha val="99000"/>
                  </a:srgbClr>
                </a:solidFill>
                <a:latin typeface="Manrope" pitchFamily="34" charset="0"/>
                <a:ea typeface="Manrope" pitchFamily="34" charset="-122"/>
                <a:cs typeface="Manrope" pitchFamily="34" charset="-120"/>
              </a:rPr>
              <a:t>4.  Мураккаб ҳолатларда қўшимча эксперт фикри </a:t>
            </a:r>
            <a:r>
              <a:rPr lang="en-US" sz="1496" b="1" kern="0" spc="-22" dirty="0" err="1">
                <a:solidFill>
                  <a:srgbClr val="000614">
                    <a:alpha val="99000"/>
                  </a:srgbClr>
                </a:solidFill>
                <a:latin typeface="Manrope" pitchFamily="34" charset="0"/>
                <a:ea typeface="Manrope" pitchFamily="34" charset="-122"/>
                <a:cs typeface="Manrope" pitchFamily="34" charset="-120"/>
              </a:rPr>
              <a:t>чекланган</a:t>
            </a:r>
            <a:r>
              <a:rPr lang="en-US" sz="1496" b="1" kern="0" spc="-22" dirty="0">
                <a:solidFill>
                  <a:srgbClr val="000614">
                    <a:alpha val="99000"/>
                  </a:srgbClr>
                </a:solidFill>
                <a:latin typeface="Manrope" pitchFamily="34" charset="0"/>
                <a:ea typeface="Manrope" pitchFamily="34" charset="-122"/>
                <a:cs typeface="Manrope" pitchFamily="34" charset="-120"/>
              </a:rPr>
              <a:t>.</a:t>
            </a:r>
            <a:br>
              <a:rPr lang="ru-RU" sz="1496" b="1" kern="0" spc="-22" dirty="0">
                <a:solidFill>
                  <a:srgbClr val="000614">
                    <a:alpha val="99000"/>
                  </a:srgbClr>
                </a:solidFill>
                <a:latin typeface="Manrope" pitchFamily="34" charset="0"/>
                <a:ea typeface="Manrope" pitchFamily="34" charset="-122"/>
                <a:cs typeface="Manrope" pitchFamily="34" charset="-120"/>
              </a:rPr>
            </a:br>
            <a:br>
              <a:rPr lang="ru-RU" sz="1496" b="1" kern="0" spc="-22" dirty="0">
                <a:solidFill>
                  <a:srgbClr val="000614">
                    <a:alpha val="99000"/>
                  </a:srgbClr>
                </a:solidFill>
                <a:latin typeface="Manrope" pitchFamily="34" charset="0"/>
                <a:ea typeface="Manrope" pitchFamily="34" charset="-122"/>
                <a:cs typeface="Manrope" pitchFamily="34" charset="-120"/>
              </a:rPr>
            </a:br>
            <a:br>
              <a:rPr lang="ru-RU" sz="1496" b="1" kern="0" spc="-22" dirty="0">
                <a:solidFill>
                  <a:srgbClr val="000614">
                    <a:alpha val="99000"/>
                  </a:srgbClr>
                </a:solidFill>
                <a:latin typeface="Manrope" pitchFamily="34" charset="0"/>
                <a:ea typeface="Manrope" pitchFamily="34" charset="-122"/>
                <a:cs typeface="Manrope" pitchFamily="34" charset="-120"/>
              </a:rPr>
            </a:br>
            <a:r>
              <a:rPr lang="en-US" sz="1496" b="1" kern="0" spc="-22" dirty="0" err="1">
                <a:solidFill>
                  <a:srgbClr val="000614">
                    <a:alpha val="99000"/>
                  </a:srgbClr>
                </a:solidFill>
                <a:latin typeface="Manrope" pitchFamily="34" charset="0"/>
                <a:ea typeface="Manrope" pitchFamily="34" charset="-122"/>
                <a:cs typeface="Manrope" pitchFamily="34" charset="-120"/>
              </a:rPr>
              <a:t>Муаммо</a:t>
            </a:r>
            <a:r>
              <a:rPr lang="en-US" sz="1496" b="1" kern="0" spc="-22" dirty="0">
                <a:solidFill>
                  <a:srgbClr val="000614">
                    <a:alpha val="99000"/>
                  </a:srgbClr>
                </a:solidFill>
                <a:latin typeface="Manrope" pitchFamily="34" charset="0"/>
                <a:ea typeface="Manrope" pitchFamily="34" charset="-122"/>
                <a:cs typeface="Manrope" pitchFamily="34" charset="-120"/>
              </a:rPr>
              <a:t> — маълумот кўп, лекин уни тез ва комплекс таҳлил қилиш қийин.</a:t>
            </a:r>
            <a:endParaRPr lang="en-US" sz="1496" dirty="0"/>
          </a:p>
        </p:txBody>
      </p:sp>
      <p:sp>
        <p:nvSpPr>
          <p:cNvPr id="5" name="Shape 2"/>
          <p:cNvSpPr/>
          <p:nvPr/>
        </p:nvSpPr>
        <p:spPr>
          <a:xfrm>
            <a:off x="7648389" y="3414713"/>
            <a:ext cx="1509713" cy="1733550"/>
          </a:xfrm>
          <a:prstGeom prst="rect">
            <a:avLst/>
          </a:prstGeom>
          <a:noFill/>
          <a:ln/>
        </p:spPr>
        <p:txBody>
          <a:bodyPr/>
          <a:lstStyle/>
          <a:p>
            <a:endParaRPr lang="ru-RU"/>
          </a:p>
        </p:txBody>
      </p:sp>
      <p:sp>
        <p:nvSpPr>
          <p:cNvPr id="6" name="Shape 3"/>
          <p:cNvSpPr/>
          <p:nvPr/>
        </p:nvSpPr>
        <p:spPr>
          <a:xfrm>
            <a:off x="7658637" y="3428375"/>
            <a:ext cx="2705271" cy="2705271"/>
          </a:xfrm>
          <a:prstGeom prst="ellipse">
            <a:avLst/>
          </a:prstGeom>
          <a:solidFill>
            <a:srgbClr val="00CEFF"/>
          </a:solidFill>
          <a:ln/>
        </p:spPr>
        <p:txBody>
          <a:bodyPr/>
          <a:lstStyle/>
          <a:p>
            <a:endParaRPr lang="ru-RU"/>
          </a:p>
        </p:txBody>
      </p:sp>
      <p:sp>
        <p:nvSpPr>
          <p:cNvPr id="7" name="Shape 4"/>
          <p:cNvSpPr/>
          <p:nvPr/>
        </p:nvSpPr>
        <p:spPr>
          <a:xfrm rot="-2700000">
            <a:off x="8304022" y="4046347"/>
            <a:ext cx="1601090" cy="1601090"/>
          </a:xfrm>
          <a:prstGeom prst="roundRect">
            <a:avLst/>
          </a:prstGeom>
          <a:solidFill>
            <a:srgbClr val="2569ED"/>
          </a:solidFill>
          <a:ln/>
        </p:spPr>
        <p:txBody>
          <a:bodyPr/>
          <a:lstStyle/>
          <a:p>
            <a:endParaRPr lang="ru-RU"/>
          </a:p>
        </p:txBody>
      </p:sp>
      <p:sp>
        <p:nvSpPr>
          <p:cNvPr id="8" name="Shape 5"/>
          <p:cNvSpPr/>
          <p:nvPr/>
        </p:nvSpPr>
        <p:spPr>
          <a:xfrm rot="-2700000">
            <a:off x="7810922" y="3519910"/>
            <a:ext cx="2393560" cy="2393560"/>
          </a:xfrm>
          <a:prstGeom prst="triangle">
            <a:avLst/>
          </a:prstGeom>
          <a:solidFill>
            <a:srgbClr val="EDB842"/>
          </a:solidFill>
          <a:ln/>
        </p:spPr>
        <p:txBody>
          <a:bodyPr/>
          <a:lstStyle/>
          <a:p>
            <a:endParaRPr lang="ru-RU"/>
          </a:p>
        </p:txBody>
      </p:sp>
      <p:sp>
        <p:nvSpPr>
          <p:cNvPr id="9" name="Shape 6"/>
          <p:cNvSpPr/>
          <p:nvPr/>
        </p:nvSpPr>
        <p:spPr>
          <a:xfrm rot="-2408411">
            <a:off x="8831923" y="4631903"/>
            <a:ext cx="327912" cy="348406"/>
          </a:xfrm>
          <a:prstGeom prst="triangle">
            <a:avLst/>
          </a:prstGeom>
          <a:solidFill>
            <a:srgbClr val="000614"/>
          </a:solidFill>
          <a:ln/>
        </p:spPr>
        <p:txBody>
          <a:bodyPr/>
          <a:lstStyle/>
          <a:p>
            <a:endParaRPr lang="ru-RU"/>
          </a:p>
        </p:txBody>
      </p:sp>
      <p:pic>
        <p:nvPicPr>
          <p:cNvPr id="10" name="Image 0" descr="preencoded.png"/>
          <p:cNvPicPr>
            <a:picLocks noChangeAspect="1"/>
          </p:cNvPicPr>
          <p:nvPr/>
        </p:nvPicPr>
        <p:blipFill>
          <a:blip r:embed="rId3"/>
          <a:srcRect/>
          <a:stretch/>
        </p:blipFill>
        <p:spPr>
          <a:xfrm>
            <a:off x="7510462" y="76200"/>
            <a:ext cx="1500188" cy="150018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BFF"/>
        </a:solidFill>
        <a:effectLst/>
      </p:bgPr>
    </p:bg>
    <p:spTree>
      <p:nvGrpSpPr>
        <p:cNvPr id="1" name=""/>
        <p:cNvGrpSpPr/>
        <p:nvPr/>
      </p:nvGrpSpPr>
      <p:grpSpPr>
        <a:xfrm>
          <a:off x="0" y="0"/>
          <a:ext cx="0" cy="0"/>
          <a:chOff x="0" y="0"/>
          <a:chExt cx="0" cy="0"/>
        </a:xfrm>
      </p:grpSpPr>
      <p:sp>
        <p:nvSpPr>
          <p:cNvPr id="3" name="Shape 0"/>
          <p:cNvSpPr/>
          <p:nvPr/>
        </p:nvSpPr>
        <p:spPr>
          <a:xfrm>
            <a:off x="4572000" y="528638"/>
            <a:ext cx="4295775" cy="4314825"/>
          </a:xfrm>
          <a:prstGeom prst="rect">
            <a:avLst/>
          </a:prstGeom>
          <a:noFill/>
          <a:ln/>
        </p:spPr>
        <p:txBody>
          <a:bodyPr/>
          <a:lstStyle/>
          <a:p>
            <a:endParaRPr lang="ru-RU"/>
          </a:p>
        </p:txBody>
      </p:sp>
      <p:sp>
        <p:nvSpPr>
          <p:cNvPr id="4" name="Text 1"/>
          <p:cNvSpPr/>
          <p:nvPr/>
        </p:nvSpPr>
        <p:spPr>
          <a:xfrm>
            <a:off x="4572000" y="345281"/>
            <a:ext cx="4195763" cy="4452938"/>
          </a:xfrm>
          <a:prstGeom prst="rect">
            <a:avLst/>
          </a:prstGeom>
          <a:noFill/>
          <a:ln/>
        </p:spPr>
        <p:txBody>
          <a:bodyPr wrap="square" lIns="0" tIns="0" rIns="0" bIns="0" rtlCol="0" anchor="t"/>
          <a:lstStyle/>
          <a:p>
            <a:pPr marL="342900" indent="-342900" algn="l">
              <a:lnSpc>
                <a:spcPts val="1945"/>
              </a:lnSpc>
              <a:buSzPct val="100000"/>
              <a:buFont typeface="+mj-lt"/>
              <a:buAutoNum type="arabicPeriod"/>
            </a:pPr>
            <a:r>
              <a:rPr lang="en-US" b="1" kern="0" spc="-22" dirty="0">
                <a:solidFill>
                  <a:srgbClr val="000614">
                    <a:alpha val="99000"/>
                  </a:srgbClr>
                </a:solidFill>
                <a:latin typeface="Manrope" pitchFamily="34" charset="0"/>
                <a:ea typeface="Manrope" pitchFamily="34" charset="-122"/>
                <a:cs typeface="Manrope" pitchFamily="34" charset="-120"/>
              </a:rPr>
              <a:t>Ягона тиббий </a:t>
            </a:r>
            <a:r>
              <a:rPr lang="en-US" b="1" kern="0" spc="-22" dirty="0" err="1">
                <a:solidFill>
                  <a:srgbClr val="000614">
                    <a:alpha val="99000"/>
                  </a:srgbClr>
                </a:solidFill>
                <a:latin typeface="Manrope" pitchFamily="34" charset="0"/>
                <a:ea typeface="Manrope" pitchFamily="34" charset="-122"/>
                <a:cs typeface="Manrope" pitchFamily="34" charset="-120"/>
              </a:rPr>
              <a:t>маълумотлар</a:t>
            </a:r>
            <a:r>
              <a:rPr lang="en-US" b="1" kern="0" spc="-22" dirty="0">
                <a:solidFill>
                  <a:srgbClr val="000614">
                    <a:alpha val="99000"/>
                  </a:srgbClr>
                </a:solidFill>
                <a:latin typeface="Manrope" pitchFamily="34" charset="0"/>
                <a:ea typeface="Manrope" pitchFamily="34" charset="-122"/>
                <a:cs typeface="Manrope" pitchFamily="34" charset="-120"/>
              </a:rPr>
              <a:t> </a:t>
            </a:r>
            <a:r>
              <a:rPr lang="en-US" b="1" kern="0" spc="-22" dirty="0" err="1">
                <a:solidFill>
                  <a:srgbClr val="000614">
                    <a:alpha val="99000"/>
                  </a:srgbClr>
                </a:solidFill>
                <a:latin typeface="Manrope" pitchFamily="34" charset="0"/>
                <a:ea typeface="Manrope" pitchFamily="34" charset="-122"/>
                <a:cs typeface="Manrope" pitchFamily="34" charset="-120"/>
              </a:rPr>
              <a:t>базаси</a:t>
            </a:r>
            <a:r>
              <a:rPr lang="en-US" b="1" kern="0" spc="-22" dirty="0">
                <a:solidFill>
                  <a:srgbClr val="000614">
                    <a:alpha val="99000"/>
                  </a:srgbClr>
                </a:solidFill>
                <a:latin typeface="Manrope" pitchFamily="34" charset="0"/>
                <a:ea typeface="Manrope" pitchFamily="34" charset="-122"/>
                <a:cs typeface="Manrope" pitchFamily="34" charset="-120"/>
              </a:rPr>
              <a:t> Анализлар, анамнез, ЭКГ, тасвирлар ва дори воситалари </a:t>
            </a:r>
            <a:r>
              <a:rPr lang="en-US" b="1" kern="0" spc="-22" dirty="0" err="1">
                <a:solidFill>
                  <a:srgbClr val="000614">
                    <a:alpha val="99000"/>
                  </a:srgbClr>
                </a:solidFill>
                <a:latin typeface="Manrope" pitchFamily="34" charset="0"/>
                <a:ea typeface="Manrope" pitchFamily="34" charset="-122"/>
                <a:cs typeface="Manrope" pitchFamily="34" charset="-120"/>
              </a:rPr>
              <a:t>бирлаштирилади</a:t>
            </a:r>
            <a:r>
              <a:rPr lang="en-US" b="1" kern="0" spc="-22" dirty="0">
                <a:solidFill>
                  <a:srgbClr val="000614">
                    <a:alpha val="99000"/>
                  </a:srgbClr>
                </a:solidFill>
                <a:latin typeface="Manrope" pitchFamily="34" charset="0"/>
                <a:ea typeface="Manrope" pitchFamily="34" charset="-122"/>
                <a:cs typeface="Manrope" pitchFamily="34" charset="-120"/>
              </a:rPr>
              <a:t>.</a:t>
            </a:r>
            <a:br>
              <a:rPr lang="ru-RU" b="1" kern="0" spc="-22" dirty="0">
                <a:solidFill>
                  <a:srgbClr val="000614">
                    <a:alpha val="99000"/>
                  </a:srgbClr>
                </a:solidFill>
                <a:latin typeface="Manrope" pitchFamily="34" charset="0"/>
                <a:ea typeface="Manrope" pitchFamily="34" charset="-122"/>
                <a:cs typeface="Manrope" pitchFamily="34" charset="-120"/>
              </a:rPr>
            </a:br>
            <a:endParaRPr lang="en-US" dirty="0"/>
          </a:p>
          <a:p>
            <a:pPr marL="342900" indent="-342900" algn="l">
              <a:lnSpc>
                <a:spcPts val="1945"/>
              </a:lnSpc>
              <a:buSzPct val="100000"/>
              <a:buFont typeface="+mj-lt"/>
              <a:buAutoNum type="arabicPeriod"/>
            </a:pPr>
            <a:r>
              <a:rPr lang="en-US" b="1" kern="0" spc="-22" dirty="0">
                <a:solidFill>
                  <a:srgbClr val="000614">
                    <a:alpha val="99000"/>
                  </a:srgbClr>
                </a:solidFill>
                <a:latin typeface="Manrope" pitchFamily="34" charset="0"/>
                <a:ea typeface="Manrope" pitchFamily="34" charset="-122"/>
                <a:cs typeface="Manrope" pitchFamily="34" charset="-120"/>
              </a:rPr>
              <a:t>AI </a:t>
            </a:r>
            <a:r>
              <a:rPr lang="en-US" b="1" kern="0" spc="-22" dirty="0" err="1">
                <a:solidFill>
                  <a:srgbClr val="000614">
                    <a:alpha val="99000"/>
                  </a:srgbClr>
                </a:solidFill>
                <a:latin typeface="Manrope" pitchFamily="34" charset="0"/>
                <a:ea typeface="Manrope" pitchFamily="34" charset="-122"/>
                <a:cs typeface="Manrope" pitchFamily="34" charset="-120"/>
              </a:rPr>
              <a:t>агентлар</a:t>
            </a:r>
            <a:r>
              <a:rPr lang="en-US" b="1" kern="0" spc="-22" dirty="0">
                <a:solidFill>
                  <a:srgbClr val="000614">
                    <a:alpha val="99000"/>
                  </a:srgbClr>
                </a:solidFill>
                <a:latin typeface="Manrope" pitchFamily="34" charset="0"/>
                <a:ea typeface="Manrope" pitchFamily="34" charset="-122"/>
                <a:cs typeface="Manrope" pitchFamily="34" charset="-120"/>
              </a:rPr>
              <a:t> </a:t>
            </a:r>
            <a:r>
              <a:rPr lang="en-US" b="1" kern="0" spc="-22" dirty="0" err="1">
                <a:solidFill>
                  <a:srgbClr val="000614">
                    <a:alpha val="99000"/>
                  </a:srgbClr>
                </a:solidFill>
                <a:latin typeface="Manrope" pitchFamily="34" charset="0"/>
                <a:ea typeface="Manrope" pitchFamily="34" charset="-122"/>
                <a:cs typeface="Manrope" pitchFamily="34" charset="-120"/>
              </a:rPr>
              <a:t>консилиуми</a:t>
            </a:r>
            <a:br>
              <a:rPr lang="ru-RU" b="1" kern="0" spc="-22" dirty="0">
                <a:solidFill>
                  <a:srgbClr val="000614">
                    <a:alpha val="99000"/>
                  </a:srgbClr>
                </a:solidFill>
                <a:latin typeface="Manrope" pitchFamily="34" charset="0"/>
                <a:ea typeface="Manrope" pitchFamily="34" charset="-122"/>
                <a:cs typeface="Manrope" pitchFamily="34" charset="-120"/>
              </a:rPr>
            </a:br>
            <a:r>
              <a:rPr lang="en-US" b="1" kern="0" spc="-22" dirty="0" err="1">
                <a:solidFill>
                  <a:srgbClr val="000614">
                    <a:alpha val="99000"/>
                  </a:srgbClr>
                </a:solidFill>
                <a:latin typeface="Manrope" pitchFamily="34" charset="0"/>
                <a:ea typeface="Manrope" pitchFamily="34" charset="-122"/>
                <a:cs typeface="Manrope" pitchFamily="34" charset="-120"/>
              </a:rPr>
              <a:t>Бир</a:t>
            </a:r>
            <a:r>
              <a:rPr lang="en-US" b="1" kern="0" spc="-22" dirty="0">
                <a:solidFill>
                  <a:srgbClr val="000614">
                    <a:alpha val="99000"/>
                  </a:srgbClr>
                </a:solidFill>
                <a:latin typeface="Manrope" pitchFamily="34" charset="0"/>
                <a:ea typeface="Manrope" pitchFamily="34" charset="-122"/>
                <a:cs typeface="Manrope" pitchFamily="34" charset="-120"/>
              </a:rPr>
              <a:t> нечта ихтисослашган AI агентлар мустақил таҳлил </a:t>
            </a:r>
            <a:r>
              <a:rPr lang="en-US" b="1" kern="0" spc="-22" dirty="0" err="1">
                <a:solidFill>
                  <a:srgbClr val="000614">
                    <a:alpha val="99000"/>
                  </a:srgbClr>
                </a:solidFill>
                <a:latin typeface="Manrope" pitchFamily="34" charset="0"/>
                <a:ea typeface="Manrope" pitchFamily="34" charset="-122"/>
                <a:cs typeface="Manrope" pitchFamily="34" charset="-120"/>
              </a:rPr>
              <a:t>қилади</a:t>
            </a:r>
            <a:r>
              <a:rPr lang="en-US" b="1" kern="0" spc="-22" dirty="0">
                <a:solidFill>
                  <a:srgbClr val="000614">
                    <a:alpha val="99000"/>
                  </a:srgbClr>
                </a:solidFill>
                <a:latin typeface="Manrope" pitchFamily="34" charset="0"/>
                <a:ea typeface="Manrope" pitchFamily="34" charset="-122"/>
                <a:cs typeface="Manrope" pitchFamily="34" charset="-120"/>
              </a:rPr>
              <a:t>.</a:t>
            </a:r>
            <a:br>
              <a:rPr lang="ru-RU" b="1" kern="0" spc="-22" dirty="0">
                <a:solidFill>
                  <a:srgbClr val="000614">
                    <a:alpha val="99000"/>
                  </a:srgbClr>
                </a:solidFill>
                <a:latin typeface="Manrope" pitchFamily="34" charset="0"/>
                <a:ea typeface="Manrope" pitchFamily="34" charset="-122"/>
                <a:cs typeface="Manrope" pitchFamily="34" charset="-120"/>
              </a:rPr>
            </a:br>
            <a:endParaRPr lang="en-US" dirty="0"/>
          </a:p>
          <a:p>
            <a:pPr marL="342900" indent="-342900" algn="l">
              <a:lnSpc>
                <a:spcPts val="1945"/>
              </a:lnSpc>
              <a:buSzPct val="100000"/>
              <a:buFont typeface="+mj-lt"/>
              <a:buAutoNum type="arabicPeriod"/>
            </a:pPr>
            <a:r>
              <a:rPr lang="en-US" b="1" kern="0" spc="-22" dirty="0">
                <a:solidFill>
                  <a:srgbClr val="000614">
                    <a:alpha val="99000"/>
                  </a:srgbClr>
                </a:solidFill>
                <a:latin typeface="Manrope" pitchFamily="34" charset="0"/>
                <a:ea typeface="Manrope" pitchFamily="34" charset="-122"/>
                <a:cs typeface="Manrope" pitchFamily="34" charset="-120"/>
              </a:rPr>
              <a:t>Хавф ва трендларни </a:t>
            </a:r>
            <a:r>
              <a:rPr lang="en-US" b="1" kern="0" spc="-22" dirty="0" err="1">
                <a:solidFill>
                  <a:srgbClr val="000614">
                    <a:alpha val="99000"/>
                  </a:srgbClr>
                </a:solidFill>
                <a:latin typeface="Manrope" pitchFamily="34" charset="0"/>
                <a:ea typeface="Manrope" pitchFamily="34" charset="-122"/>
                <a:cs typeface="Manrope" pitchFamily="34" charset="-120"/>
              </a:rPr>
              <a:t>эрта</a:t>
            </a:r>
            <a:r>
              <a:rPr lang="en-US" b="1" kern="0" spc="-22" dirty="0">
                <a:solidFill>
                  <a:srgbClr val="000614">
                    <a:alpha val="99000"/>
                  </a:srgbClr>
                </a:solidFill>
                <a:latin typeface="Manrope" pitchFamily="34" charset="0"/>
                <a:ea typeface="Manrope" pitchFamily="34" charset="-122"/>
                <a:cs typeface="Manrope" pitchFamily="34" charset="-120"/>
              </a:rPr>
              <a:t> </a:t>
            </a:r>
            <a:r>
              <a:rPr lang="en-US" b="1" kern="0" spc="-22" dirty="0" err="1">
                <a:solidFill>
                  <a:srgbClr val="000614">
                    <a:alpha val="99000"/>
                  </a:srgbClr>
                </a:solidFill>
                <a:latin typeface="Manrope" pitchFamily="34" charset="0"/>
                <a:ea typeface="Manrope" pitchFamily="34" charset="-122"/>
                <a:cs typeface="Manrope" pitchFamily="34" charset="-120"/>
              </a:rPr>
              <a:t>аниқлаш</a:t>
            </a:r>
            <a:br>
              <a:rPr lang="ru-RU" b="1" kern="0" spc="-22" dirty="0">
                <a:solidFill>
                  <a:srgbClr val="000614">
                    <a:alpha val="99000"/>
                  </a:srgbClr>
                </a:solidFill>
                <a:latin typeface="Manrope" pitchFamily="34" charset="0"/>
                <a:ea typeface="Manrope" pitchFamily="34" charset="-122"/>
                <a:cs typeface="Manrope" pitchFamily="34" charset="-120"/>
              </a:rPr>
            </a:br>
            <a:r>
              <a:rPr lang="en-US" b="1" kern="0" spc="-22" dirty="0" err="1">
                <a:solidFill>
                  <a:srgbClr val="000614">
                    <a:alpha val="99000"/>
                  </a:srgbClr>
                </a:solidFill>
                <a:latin typeface="Manrope" pitchFamily="34" charset="0"/>
                <a:ea typeface="Manrope" pitchFamily="34" charset="-122"/>
                <a:cs typeface="Manrope" pitchFamily="34" charset="-120"/>
              </a:rPr>
              <a:t>Тизим</a:t>
            </a:r>
            <a:r>
              <a:rPr lang="en-US" b="1" kern="0" spc="-22" dirty="0">
                <a:solidFill>
                  <a:srgbClr val="000614">
                    <a:alpha val="99000"/>
                  </a:srgbClr>
                </a:solidFill>
                <a:latin typeface="Manrope" pitchFamily="34" charset="0"/>
                <a:ea typeface="Manrope" pitchFamily="34" charset="-122"/>
                <a:cs typeface="Manrope" pitchFamily="34" charset="-120"/>
              </a:rPr>
              <a:t> динамика, ўзаро боғлиқ белгилар ва муҳим ўзгаришларни </a:t>
            </a:r>
            <a:r>
              <a:rPr lang="en-US" b="1" kern="0" spc="-22" dirty="0" err="1">
                <a:solidFill>
                  <a:srgbClr val="000614">
                    <a:alpha val="99000"/>
                  </a:srgbClr>
                </a:solidFill>
                <a:latin typeface="Manrope" pitchFamily="34" charset="0"/>
                <a:ea typeface="Manrope" pitchFamily="34" charset="-122"/>
                <a:cs typeface="Manrope" pitchFamily="34" charset="-120"/>
              </a:rPr>
              <a:t>кўради</a:t>
            </a:r>
            <a:r>
              <a:rPr lang="en-US" b="1" kern="0" spc="-22" dirty="0">
                <a:solidFill>
                  <a:srgbClr val="000614">
                    <a:alpha val="99000"/>
                  </a:srgbClr>
                </a:solidFill>
                <a:latin typeface="Manrope" pitchFamily="34" charset="0"/>
                <a:ea typeface="Manrope" pitchFamily="34" charset="-122"/>
                <a:cs typeface="Manrope" pitchFamily="34" charset="-120"/>
              </a:rPr>
              <a:t>.</a:t>
            </a:r>
            <a:br>
              <a:rPr lang="ru-RU" b="1" kern="0" spc="-22" dirty="0">
                <a:solidFill>
                  <a:srgbClr val="000614">
                    <a:alpha val="99000"/>
                  </a:srgbClr>
                </a:solidFill>
                <a:latin typeface="Manrope" pitchFamily="34" charset="0"/>
                <a:ea typeface="Manrope" pitchFamily="34" charset="-122"/>
                <a:cs typeface="Manrope" pitchFamily="34" charset="-120"/>
              </a:rPr>
            </a:br>
            <a:endParaRPr lang="en-US" dirty="0"/>
          </a:p>
          <a:p>
            <a:pPr marL="342900" indent="-342900" algn="l">
              <a:lnSpc>
                <a:spcPts val="1945"/>
              </a:lnSpc>
              <a:buSzPct val="100000"/>
              <a:buFont typeface="+mj-lt"/>
              <a:buAutoNum type="arabicPeriod"/>
            </a:pPr>
            <a:r>
              <a:rPr lang="en-US" b="1" kern="0" spc="-22" dirty="0">
                <a:solidFill>
                  <a:srgbClr val="000614">
                    <a:alpha val="99000"/>
                  </a:srgbClr>
                </a:solidFill>
                <a:latin typeface="Manrope" pitchFamily="34" charset="0"/>
                <a:ea typeface="Manrope" pitchFamily="34" charset="-122"/>
                <a:cs typeface="Manrope" pitchFamily="34" charset="-120"/>
              </a:rPr>
              <a:t>Шифокор учун </a:t>
            </a:r>
            <a:r>
              <a:rPr lang="en-US" b="1" kern="0" spc="-22" dirty="0" err="1">
                <a:solidFill>
                  <a:srgbClr val="000614">
                    <a:alpha val="99000"/>
                  </a:srgbClr>
                </a:solidFill>
                <a:latin typeface="Manrope" pitchFamily="34" charset="0"/>
                <a:ea typeface="Manrope" pitchFamily="34" charset="-122"/>
                <a:cs typeface="Manrope" pitchFamily="34" charset="-120"/>
              </a:rPr>
              <a:t>тайёр</a:t>
            </a:r>
            <a:r>
              <a:rPr lang="en-US" b="1" kern="0" spc="-22" dirty="0">
                <a:solidFill>
                  <a:srgbClr val="000614">
                    <a:alpha val="99000"/>
                  </a:srgbClr>
                </a:solidFill>
                <a:latin typeface="Manrope" pitchFamily="34" charset="0"/>
                <a:ea typeface="Manrope" pitchFamily="34" charset="-122"/>
                <a:cs typeface="Manrope" pitchFamily="34" charset="-120"/>
              </a:rPr>
              <a:t> </a:t>
            </a:r>
            <a:r>
              <a:rPr lang="en-US" b="1" kern="0" spc="-22" dirty="0" err="1">
                <a:solidFill>
                  <a:srgbClr val="000614">
                    <a:alpha val="99000"/>
                  </a:srgbClr>
                </a:solidFill>
                <a:latin typeface="Manrope" pitchFamily="34" charset="0"/>
                <a:ea typeface="Manrope" pitchFamily="34" charset="-122"/>
                <a:cs typeface="Manrope" pitchFamily="34" charset="-120"/>
              </a:rPr>
              <a:t>хулоса</a:t>
            </a:r>
            <a:br>
              <a:rPr lang="ru-RU" b="1" kern="0" spc="-22" dirty="0">
                <a:solidFill>
                  <a:srgbClr val="000614">
                    <a:alpha val="99000"/>
                  </a:srgbClr>
                </a:solidFill>
                <a:latin typeface="Manrope" pitchFamily="34" charset="0"/>
                <a:ea typeface="Manrope" pitchFamily="34" charset="-122"/>
                <a:cs typeface="Manrope" pitchFamily="34" charset="-120"/>
              </a:rPr>
            </a:br>
            <a:r>
              <a:rPr lang="en-US" b="1" kern="0" spc="-22" dirty="0" err="1">
                <a:solidFill>
                  <a:srgbClr val="000614">
                    <a:alpha val="99000"/>
                  </a:srgbClr>
                </a:solidFill>
                <a:latin typeface="Manrope" pitchFamily="34" charset="0"/>
                <a:ea typeface="Manrope" pitchFamily="34" charset="-122"/>
                <a:cs typeface="Manrope" pitchFamily="34" charset="-120"/>
              </a:rPr>
              <a:t>Асосий</a:t>
            </a:r>
            <a:r>
              <a:rPr lang="en-US" b="1" kern="0" spc="-22" dirty="0">
                <a:solidFill>
                  <a:srgbClr val="000614">
                    <a:alpha val="99000"/>
                  </a:srgbClr>
                </a:solidFill>
                <a:latin typeface="Manrope" pitchFamily="34" charset="0"/>
                <a:ea typeface="Manrope" pitchFamily="34" charset="-122"/>
                <a:cs typeface="Manrope" pitchFamily="34" charset="-120"/>
              </a:rPr>
              <a:t> гипотеза, альтернатив вариантлар ва қўшимча текширувлар тақдим этилади.</a:t>
            </a:r>
            <a:endParaRPr lang="en-US" dirty="0"/>
          </a:p>
        </p:txBody>
      </p:sp>
      <p:sp>
        <p:nvSpPr>
          <p:cNvPr id="5" name="Shape 2"/>
          <p:cNvSpPr/>
          <p:nvPr/>
        </p:nvSpPr>
        <p:spPr>
          <a:xfrm>
            <a:off x="0" y="0"/>
            <a:ext cx="4171950" cy="5143500"/>
          </a:xfrm>
          <a:prstGeom prst="rect">
            <a:avLst/>
          </a:prstGeom>
          <a:solidFill>
            <a:srgbClr val="2569ED"/>
          </a:solidFill>
          <a:ln/>
        </p:spPr>
        <p:txBody>
          <a:bodyPr/>
          <a:lstStyle/>
          <a:p>
            <a:endParaRPr lang="ru-RU"/>
          </a:p>
        </p:txBody>
      </p:sp>
      <p:sp>
        <p:nvSpPr>
          <p:cNvPr id="6" name="Shape 3"/>
          <p:cNvSpPr/>
          <p:nvPr/>
        </p:nvSpPr>
        <p:spPr>
          <a:xfrm>
            <a:off x="447675" y="2571750"/>
            <a:ext cx="3271838" cy="2190750"/>
          </a:xfrm>
          <a:prstGeom prst="rect">
            <a:avLst/>
          </a:prstGeom>
          <a:noFill/>
          <a:ln/>
        </p:spPr>
        <p:txBody>
          <a:bodyPr/>
          <a:lstStyle/>
          <a:p>
            <a:endParaRPr lang="ru-RU"/>
          </a:p>
        </p:txBody>
      </p:sp>
      <p:sp>
        <p:nvSpPr>
          <p:cNvPr id="7" name="Text 4"/>
          <p:cNvSpPr/>
          <p:nvPr/>
        </p:nvSpPr>
        <p:spPr>
          <a:xfrm>
            <a:off x="497681" y="3028950"/>
            <a:ext cx="3271838" cy="2190750"/>
          </a:xfrm>
          <a:prstGeom prst="rect">
            <a:avLst/>
          </a:prstGeom>
          <a:noFill/>
          <a:ln/>
        </p:spPr>
        <p:txBody>
          <a:bodyPr wrap="square" lIns="0" tIns="0" rIns="0" bIns="0" rtlCol="0" anchor="t"/>
          <a:lstStyle/>
          <a:p>
            <a:pPr marL="0" indent="0" algn="l">
              <a:lnSpc>
                <a:spcPts val="4104"/>
              </a:lnSpc>
              <a:buNone/>
            </a:pPr>
            <a:r>
              <a:rPr lang="en-US" sz="3420" b="1" kern="0" spc="-68" dirty="0" err="1">
                <a:solidFill>
                  <a:srgbClr val="FAFBFF">
                    <a:alpha val="99000"/>
                  </a:srgbClr>
                </a:solidFill>
                <a:latin typeface="Manrope" pitchFamily="34" charset="0"/>
                <a:ea typeface="Manrope" pitchFamily="34" charset="-122"/>
                <a:cs typeface="Manrope" pitchFamily="34" charset="-120"/>
              </a:rPr>
              <a:t>ягона</a:t>
            </a:r>
            <a:r>
              <a:rPr lang="en-US" sz="3420" b="1" kern="0" spc="-68" dirty="0">
                <a:solidFill>
                  <a:srgbClr val="FAFBFF">
                    <a:alpha val="99000"/>
                  </a:srgbClr>
                </a:solidFill>
                <a:latin typeface="Manrope" pitchFamily="34" charset="0"/>
                <a:ea typeface="Manrope" pitchFamily="34" charset="-122"/>
                <a:cs typeface="Manrope" pitchFamily="34" charset="-120"/>
              </a:rPr>
              <a:t> </a:t>
            </a:r>
            <a:r>
              <a:rPr lang="en-US" sz="3420" b="1" kern="0" spc="-68" dirty="0" err="1">
                <a:solidFill>
                  <a:srgbClr val="FAFBFF">
                    <a:alpha val="99000"/>
                  </a:srgbClr>
                </a:solidFill>
                <a:latin typeface="Manrope" pitchFamily="34" charset="0"/>
                <a:ea typeface="Manrope" pitchFamily="34" charset="-122"/>
                <a:cs typeface="Manrope" pitchFamily="34" charset="-120"/>
              </a:rPr>
              <a:t>интеллектуал</a:t>
            </a:r>
            <a:br>
              <a:rPr lang="ru-RU" sz="3420" b="1" kern="0" spc="-68" dirty="0">
                <a:solidFill>
                  <a:srgbClr val="FAFBFF">
                    <a:alpha val="99000"/>
                  </a:srgbClr>
                </a:solidFill>
                <a:latin typeface="Manrope" pitchFamily="34" charset="0"/>
                <a:ea typeface="Manrope" pitchFamily="34" charset="-122"/>
                <a:cs typeface="Manrope" pitchFamily="34" charset="-120"/>
              </a:rPr>
            </a:br>
            <a:r>
              <a:rPr lang="en-US" sz="3420" b="1" kern="0" spc="-68" dirty="0" err="1">
                <a:solidFill>
                  <a:srgbClr val="FAFBFF">
                    <a:alpha val="99000"/>
                  </a:srgbClr>
                </a:solidFill>
                <a:latin typeface="Manrope" pitchFamily="34" charset="0"/>
                <a:ea typeface="Manrope" pitchFamily="34" charset="-122"/>
                <a:cs typeface="Manrope" pitchFamily="34" charset="-120"/>
              </a:rPr>
              <a:t>ечим</a:t>
            </a:r>
            <a:endParaRPr lang="en-US" sz="3420" dirty="0"/>
          </a:p>
        </p:txBody>
      </p:sp>
      <p:pic>
        <p:nvPicPr>
          <p:cNvPr id="8" name="Image 0" descr="preencoded.png"/>
          <p:cNvPicPr>
            <a:picLocks noChangeAspect="1"/>
          </p:cNvPicPr>
          <p:nvPr/>
        </p:nvPicPr>
        <p:blipFill>
          <a:blip r:embed="rId3"/>
          <a:srcRect/>
          <a:stretch/>
        </p:blipFill>
        <p:spPr>
          <a:xfrm>
            <a:off x="904875" y="528638"/>
            <a:ext cx="2362200" cy="23622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BFF"/>
        </a:solidFill>
        <a:effectLst/>
      </p:bgPr>
    </p:bg>
    <p:spTree>
      <p:nvGrpSpPr>
        <p:cNvPr id="1" name=""/>
        <p:cNvGrpSpPr/>
        <p:nvPr/>
      </p:nvGrpSpPr>
      <p:grpSpPr>
        <a:xfrm>
          <a:off x="0" y="0"/>
          <a:ext cx="0" cy="0"/>
          <a:chOff x="0" y="0"/>
          <a:chExt cx="0" cy="0"/>
        </a:xfrm>
      </p:grpSpPr>
      <p:sp>
        <p:nvSpPr>
          <p:cNvPr id="3" name="Shape 0"/>
          <p:cNvSpPr/>
          <p:nvPr/>
        </p:nvSpPr>
        <p:spPr>
          <a:xfrm>
            <a:off x="0" y="4762500"/>
            <a:ext cx="9144000" cy="381000"/>
          </a:xfrm>
          <a:prstGeom prst="rect">
            <a:avLst/>
          </a:prstGeom>
          <a:solidFill>
            <a:srgbClr val="000614"/>
          </a:solidFill>
          <a:ln/>
        </p:spPr>
        <p:txBody>
          <a:bodyPr/>
          <a:lstStyle/>
          <a:p>
            <a:endParaRPr lang="ru-RU"/>
          </a:p>
        </p:txBody>
      </p:sp>
      <p:sp>
        <p:nvSpPr>
          <p:cNvPr id="4" name="Text 1"/>
          <p:cNvSpPr/>
          <p:nvPr/>
        </p:nvSpPr>
        <p:spPr>
          <a:xfrm>
            <a:off x="2905125" y="261937"/>
            <a:ext cx="3386138" cy="428625"/>
          </a:xfrm>
          <a:prstGeom prst="rect">
            <a:avLst/>
          </a:prstGeom>
          <a:noFill/>
          <a:ln/>
        </p:spPr>
        <p:txBody>
          <a:bodyPr wrap="square" lIns="0" tIns="0" rIns="0" bIns="0" rtlCol="0" anchor="t"/>
          <a:lstStyle/>
          <a:p>
            <a:pPr marL="0" indent="0" algn="ctr">
              <a:lnSpc>
                <a:spcPts val="3206"/>
              </a:lnSpc>
              <a:buNone/>
            </a:pPr>
            <a:r>
              <a:rPr lang="en-US" sz="2565" b="1" kern="0" spc="-38" dirty="0">
                <a:solidFill>
                  <a:srgbClr val="2569ED">
                    <a:alpha val="99000"/>
                  </a:srgbClr>
                </a:solidFill>
                <a:latin typeface="Manrope" pitchFamily="34" charset="0"/>
                <a:ea typeface="Manrope" pitchFamily="34" charset="-122"/>
                <a:cs typeface="Manrope" pitchFamily="34" charset="-120"/>
              </a:rPr>
              <a:t>AI MEDICAL COUNCIL</a:t>
            </a:r>
            <a:endParaRPr lang="en-US" sz="2565" dirty="0"/>
          </a:p>
        </p:txBody>
      </p:sp>
      <p:sp>
        <p:nvSpPr>
          <p:cNvPr id="5" name="Text 2"/>
          <p:cNvSpPr/>
          <p:nvPr/>
        </p:nvSpPr>
        <p:spPr>
          <a:xfrm>
            <a:off x="466725" y="938213"/>
            <a:ext cx="8210550" cy="571500"/>
          </a:xfrm>
          <a:prstGeom prst="rect">
            <a:avLst/>
          </a:prstGeom>
          <a:noFill/>
          <a:ln/>
        </p:spPr>
        <p:txBody>
          <a:bodyPr wrap="square" lIns="0" tIns="0" rIns="0" bIns="0" rtlCol="0" anchor="t"/>
          <a:lstStyle/>
          <a:p>
            <a:pPr marL="0" indent="0" algn="ctr">
              <a:lnSpc>
                <a:spcPts val="2138"/>
              </a:lnSpc>
              <a:buNone/>
            </a:pPr>
            <a:r>
              <a:rPr lang="en-US" sz="1710" b="1" kern="0" spc="-26" dirty="0">
                <a:solidFill>
                  <a:srgbClr val="2569ED">
                    <a:alpha val="99000"/>
                  </a:srgbClr>
                </a:solidFill>
                <a:latin typeface="Manrope" pitchFamily="34" charset="0"/>
                <a:ea typeface="Manrope" pitchFamily="34" charset="-122"/>
                <a:cs typeface="Manrope" pitchFamily="34" charset="-120"/>
              </a:rPr>
              <a:t>Ҳар бир AI агент бемор маълумотларини ўз йўналиши бўйича мустақил таҳлил қилади.</a:t>
            </a:r>
            <a:endParaRPr lang="en-US" sz="1710" dirty="0"/>
          </a:p>
        </p:txBody>
      </p:sp>
      <p:sp>
        <p:nvSpPr>
          <p:cNvPr id="6" name="Text 3"/>
          <p:cNvSpPr/>
          <p:nvPr/>
        </p:nvSpPr>
        <p:spPr>
          <a:xfrm>
            <a:off x="495300" y="3476625"/>
            <a:ext cx="8210550" cy="571500"/>
          </a:xfrm>
          <a:prstGeom prst="rect">
            <a:avLst/>
          </a:prstGeom>
          <a:noFill/>
          <a:ln/>
        </p:spPr>
        <p:txBody>
          <a:bodyPr wrap="square" lIns="0" tIns="0" rIns="0" bIns="0" rtlCol="0" anchor="t"/>
          <a:lstStyle/>
          <a:p>
            <a:pPr marL="0" indent="0" algn="ctr">
              <a:lnSpc>
                <a:spcPts val="2138"/>
              </a:lnSpc>
              <a:buNone/>
            </a:pPr>
            <a:r>
              <a:rPr lang="en-US" sz="1710" b="1" kern="0" spc="-26" dirty="0">
                <a:solidFill>
                  <a:srgbClr val="2569ED">
                    <a:alpha val="99000"/>
                  </a:srgbClr>
                </a:solidFill>
                <a:latin typeface="Manrope" pitchFamily="34" charset="0"/>
                <a:ea typeface="Manrope" pitchFamily="34" charset="-122"/>
                <a:cs typeface="Manrope" pitchFamily="34" charset="-120"/>
              </a:rPr>
              <a:t>AI агентлар бир-бирининг хулосасини текширади ва шифокор учун ягона консилиум натижасини шакллантиради.</a:t>
            </a:r>
            <a:endParaRPr lang="en-US" sz="1710" dirty="0"/>
          </a:p>
        </p:txBody>
      </p:sp>
      <p:pic>
        <p:nvPicPr>
          <p:cNvPr id="7" name="Image 0" descr="preencoded.png"/>
          <p:cNvPicPr>
            <a:picLocks noChangeAspect="1"/>
          </p:cNvPicPr>
          <p:nvPr/>
        </p:nvPicPr>
        <p:blipFill>
          <a:blip r:embed="rId3"/>
          <a:srcRect/>
          <a:stretch/>
        </p:blipFill>
        <p:spPr>
          <a:xfrm>
            <a:off x="4024313" y="1905000"/>
            <a:ext cx="1090613" cy="1319213"/>
          </a:xfrm>
          <a:prstGeom prst="rect">
            <a:avLst/>
          </a:prstGeom>
        </p:spPr>
      </p:pic>
      <p:pic>
        <p:nvPicPr>
          <p:cNvPr id="8" name="Image 1" descr="preencoded.png"/>
          <p:cNvPicPr>
            <a:picLocks noChangeAspect="1"/>
          </p:cNvPicPr>
          <p:nvPr/>
        </p:nvPicPr>
        <p:blipFill>
          <a:blip r:embed="rId4"/>
          <a:srcRect/>
          <a:stretch/>
        </p:blipFill>
        <p:spPr>
          <a:xfrm>
            <a:off x="800100" y="909638"/>
            <a:ext cx="5567363" cy="257175"/>
          </a:xfrm>
          <a:prstGeom prst="rect">
            <a:avLst/>
          </a:prstGeom>
        </p:spPr>
      </p:pic>
      <p:pic>
        <p:nvPicPr>
          <p:cNvPr id="9" name="Image 2" descr="preencoded.png"/>
          <p:cNvPicPr>
            <a:picLocks noChangeAspect="1"/>
          </p:cNvPicPr>
          <p:nvPr/>
        </p:nvPicPr>
        <p:blipFill>
          <a:blip r:embed="rId5"/>
          <a:srcRect/>
          <a:stretch/>
        </p:blipFill>
        <p:spPr>
          <a:xfrm>
            <a:off x="361950" y="1928813"/>
            <a:ext cx="1104900" cy="1352550"/>
          </a:xfrm>
          <a:prstGeom prst="rect">
            <a:avLst/>
          </a:prstGeom>
        </p:spPr>
      </p:pic>
      <p:pic>
        <p:nvPicPr>
          <p:cNvPr id="10" name="Image 3" descr="preencoded.png"/>
          <p:cNvPicPr>
            <a:picLocks noChangeAspect="1"/>
          </p:cNvPicPr>
          <p:nvPr/>
        </p:nvPicPr>
        <p:blipFill>
          <a:blip r:embed="rId6"/>
          <a:srcRect/>
          <a:stretch/>
        </p:blipFill>
        <p:spPr>
          <a:xfrm>
            <a:off x="5214938" y="1905000"/>
            <a:ext cx="1104900" cy="1343025"/>
          </a:xfrm>
          <a:prstGeom prst="rect">
            <a:avLst/>
          </a:prstGeom>
        </p:spPr>
      </p:pic>
      <p:pic>
        <p:nvPicPr>
          <p:cNvPr id="11" name="Image 4" descr="preencoded.png"/>
          <p:cNvPicPr>
            <a:picLocks noChangeAspect="1"/>
          </p:cNvPicPr>
          <p:nvPr/>
        </p:nvPicPr>
        <p:blipFill>
          <a:blip r:embed="rId7"/>
          <a:srcRect/>
          <a:stretch/>
        </p:blipFill>
        <p:spPr>
          <a:xfrm>
            <a:off x="2790825" y="1905000"/>
            <a:ext cx="1133475" cy="1319213"/>
          </a:xfrm>
          <a:prstGeom prst="rect">
            <a:avLst/>
          </a:prstGeom>
        </p:spPr>
      </p:pic>
      <p:pic>
        <p:nvPicPr>
          <p:cNvPr id="12" name="Image 5" descr="preencoded.png"/>
          <p:cNvPicPr>
            <a:picLocks noChangeAspect="1"/>
          </p:cNvPicPr>
          <p:nvPr/>
        </p:nvPicPr>
        <p:blipFill>
          <a:blip r:embed="rId8"/>
          <a:srcRect/>
          <a:stretch/>
        </p:blipFill>
        <p:spPr>
          <a:xfrm>
            <a:off x="1562100" y="1905000"/>
            <a:ext cx="1133475" cy="1338263"/>
          </a:xfrm>
          <a:prstGeom prst="rect">
            <a:avLst/>
          </a:prstGeom>
        </p:spPr>
      </p:pic>
      <p:pic>
        <p:nvPicPr>
          <p:cNvPr id="13" name="Image 6" descr="preencoded.png"/>
          <p:cNvPicPr>
            <a:picLocks noChangeAspect="1"/>
          </p:cNvPicPr>
          <p:nvPr/>
        </p:nvPicPr>
        <p:blipFill>
          <a:blip r:embed="rId9"/>
          <a:srcRect/>
          <a:stretch/>
        </p:blipFill>
        <p:spPr>
          <a:xfrm>
            <a:off x="7620000" y="1947863"/>
            <a:ext cx="1085850" cy="1300163"/>
          </a:xfrm>
          <a:prstGeom prst="rect">
            <a:avLst/>
          </a:prstGeom>
        </p:spPr>
      </p:pic>
      <p:pic>
        <p:nvPicPr>
          <p:cNvPr id="14" name="Image 7" descr="preencoded.png"/>
          <p:cNvPicPr>
            <a:picLocks noChangeAspect="1"/>
          </p:cNvPicPr>
          <p:nvPr/>
        </p:nvPicPr>
        <p:blipFill>
          <a:blip r:embed="rId10"/>
          <a:srcRect/>
          <a:stretch/>
        </p:blipFill>
        <p:spPr>
          <a:xfrm>
            <a:off x="6419850" y="1909762"/>
            <a:ext cx="1104900" cy="13335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BFF"/>
        </a:solidFill>
        <a:effectLst/>
      </p:bgPr>
    </p:bg>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rcRect/>
          <a:stretch/>
        </p:blipFill>
        <p:spPr>
          <a:xfrm>
            <a:off x="476250" y="223838"/>
            <a:ext cx="3371850" cy="285750"/>
          </a:xfrm>
          <a:prstGeom prst="rect">
            <a:avLst/>
          </a:prstGeom>
        </p:spPr>
      </p:pic>
      <p:sp>
        <p:nvSpPr>
          <p:cNvPr id="4" name="Text 0"/>
          <p:cNvSpPr/>
          <p:nvPr/>
        </p:nvSpPr>
        <p:spPr>
          <a:xfrm>
            <a:off x="2062163" y="862013"/>
            <a:ext cx="5029200" cy="285750"/>
          </a:xfrm>
          <a:prstGeom prst="rect">
            <a:avLst/>
          </a:prstGeom>
          <a:noFill/>
          <a:ln/>
        </p:spPr>
        <p:txBody>
          <a:bodyPr wrap="square" lIns="0" tIns="0" rIns="0" bIns="0" rtlCol="0" anchor="t"/>
          <a:lstStyle/>
          <a:p>
            <a:pPr marL="0" indent="0" algn="l">
              <a:lnSpc>
                <a:spcPts val="2138"/>
              </a:lnSpc>
              <a:buNone/>
            </a:pPr>
            <a:r>
              <a:rPr lang="en-US" sz="1710" b="1" kern="0" spc="-26" dirty="0">
                <a:solidFill>
                  <a:srgbClr val="2569ED">
                    <a:alpha val="99000"/>
                  </a:srgbClr>
                </a:solidFill>
                <a:latin typeface="Manrope" pitchFamily="34" charset="0"/>
                <a:ea typeface="Manrope" pitchFamily="34" charset="-122"/>
                <a:cs typeface="Manrope" pitchFamily="34" charset="-120"/>
              </a:rPr>
              <a:t>Беморнинг барча маълумотлари — бир жойда</a:t>
            </a:r>
            <a:endParaRPr lang="en-US" sz="1710" dirty="0"/>
          </a:p>
        </p:txBody>
      </p:sp>
      <p:sp>
        <p:nvSpPr>
          <p:cNvPr id="5" name="Text 1"/>
          <p:cNvSpPr/>
          <p:nvPr/>
        </p:nvSpPr>
        <p:spPr>
          <a:xfrm>
            <a:off x="3481388" y="295275"/>
            <a:ext cx="2181225" cy="428625"/>
          </a:xfrm>
          <a:prstGeom prst="rect">
            <a:avLst/>
          </a:prstGeom>
          <a:noFill/>
          <a:ln/>
        </p:spPr>
        <p:txBody>
          <a:bodyPr wrap="square" lIns="0" tIns="0" rIns="0" bIns="0" rtlCol="0" anchor="t"/>
          <a:lstStyle/>
          <a:p>
            <a:pPr marL="0" indent="0" algn="l">
              <a:lnSpc>
                <a:spcPts val="3206"/>
              </a:lnSpc>
              <a:buNone/>
            </a:pPr>
            <a:r>
              <a:rPr lang="en-US" sz="2565" b="1" kern="0" spc="-38" dirty="0">
                <a:solidFill>
                  <a:srgbClr val="2569ED">
                    <a:alpha val="99000"/>
                  </a:srgbClr>
                </a:solidFill>
                <a:latin typeface="Manrope" pitchFamily="34" charset="0"/>
                <a:ea typeface="Manrope" pitchFamily="34" charset="-122"/>
                <a:cs typeface="Manrope" pitchFamily="34" charset="-120"/>
              </a:rPr>
              <a:t>DIGITAL TWIN</a:t>
            </a:r>
            <a:endParaRPr lang="en-US" sz="2565" dirty="0"/>
          </a:p>
        </p:txBody>
      </p:sp>
      <p:pic>
        <p:nvPicPr>
          <p:cNvPr id="6" name="Image 1" descr="preencoded.png"/>
          <p:cNvPicPr>
            <a:picLocks noChangeAspect="1"/>
          </p:cNvPicPr>
          <p:nvPr/>
        </p:nvPicPr>
        <p:blipFill>
          <a:blip r:embed="rId4"/>
          <a:srcRect/>
          <a:stretch/>
        </p:blipFill>
        <p:spPr>
          <a:xfrm>
            <a:off x="0" y="4762500"/>
            <a:ext cx="9144000" cy="381000"/>
          </a:xfrm>
          <a:prstGeom prst="rect">
            <a:avLst/>
          </a:prstGeom>
        </p:spPr>
      </p:pic>
      <p:pic>
        <p:nvPicPr>
          <p:cNvPr id="7" name="Image 2" descr="preencoded.png"/>
          <p:cNvPicPr>
            <a:picLocks noChangeAspect="1"/>
          </p:cNvPicPr>
          <p:nvPr/>
        </p:nvPicPr>
        <p:blipFill>
          <a:blip r:embed="rId5"/>
          <a:srcRect/>
          <a:stretch/>
        </p:blipFill>
        <p:spPr>
          <a:xfrm>
            <a:off x="414338" y="1414463"/>
            <a:ext cx="4557713" cy="2890838"/>
          </a:xfrm>
          <a:prstGeom prst="rect">
            <a:avLst/>
          </a:prstGeom>
        </p:spPr>
      </p:pic>
      <p:pic>
        <p:nvPicPr>
          <p:cNvPr id="8" name="Image 3" descr="preencoded.png"/>
          <p:cNvPicPr>
            <a:picLocks noChangeAspect="1"/>
          </p:cNvPicPr>
          <p:nvPr/>
        </p:nvPicPr>
        <p:blipFill>
          <a:blip r:embed="rId6"/>
          <a:srcRect/>
          <a:stretch/>
        </p:blipFill>
        <p:spPr>
          <a:xfrm>
            <a:off x="5281613" y="1414463"/>
            <a:ext cx="3609975" cy="289083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BFF"/>
        </a:solidFill>
        <a:effectLst/>
      </p:bgPr>
    </p:bg>
    <p:spTree>
      <p:nvGrpSpPr>
        <p:cNvPr id="1" name=""/>
        <p:cNvGrpSpPr/>
        <p:nvPr/>
      </p:nvGrpSpPr>
      <p:grpSpPr>
        <a:xfrm>
          <a:off x="0" y="0"/>
          <a:ext cx="0" cy="0"/>
          <a:chOff x="0" y="0"/>
          <a:chExt cx="0" cy="0"/>
        </a:xfrm>
      </p:grpSpPr>
      <p:sp>
        <p:nvSpPr>
          <p:cNvPr id="3" name="Text 0"/>
          <p:cNvSpPr/>
          <p:nvPr/>
        </p:nvSpPr>
        <p:spPr>
          <a:xfrm>
            <a:off x="238125" y="195263"/>
            <a:ext cx="4719638" cy="285750"/>
          </a:xfrm>
          <a:prstGeom prst="rect">
            <a:avLst/>
          </a:prstGeom>
          <a:noFill/>
          <a:ln/>
        </p:spPr>
        <p:txBody>
          <a:bodyPr wrap="square" lIns="0" tIns="0" rIns="0" bIns="0" rtlCol="0" anchor="t"/>
          <a:lstStyle/>
          <a:p>
            <a:pPr marL="0" indent="0" algn="l">
              <a:lnSpc>
                <a:spcPts val="2138"/>
              </a:lnSpc>
              <a:buNone/>
            </a:pPr>
            <a:r>
              <a:rPr lang="en-US" sz="1710" b="1" kern="0" spc="-26" dirty="0">
                <a:solidFill>
                  <a:srgbClr val="2569ED">
                    <a:alpha val="99000"/>
                  </a:srgbClr>
                </a:solidFill>
                <a:latin typeface="Manrope" pitchFamily="34" charset="0"/>
                <a:ea typeface="Manrope" pitchFamily="34" charset="-122"/>
                <a:cs typeface="Manrope" pitchFamily="34" charset="-120"/>
              </a:rPr>
              <a:t>AI таҳлил натижаси — тайёр клиник хулоса</a:t>
            </a:r>
            <a:endParaRPr lang="en-US" sz="1710" dirty="0"/>
          </a:p>
        </p:txBody>
      </p:sp>
      <p:sp>
        <p:nvSpPr>
          <p:cNvPr id="4" name="Text 1"/>
          <p:cNvSpPr/>
          <p:nvPr/>
        </p:nvSpPr>
        <p:spPr>
          <a:xfrm>
            <a:off x="238125" y="3786188"/>
            <a:ext cx="5281613" cy="857250"/>
          </a:xfrm>
          <a:prstGeom prst="rect">
            <a:avLst/>
          </a:prstGeom>
          <a:noFill/>
          <a:ln/>
        </p:spPr>
        <p:txBody>
          <a:bodyPr wrap="square" lIns="0" tIns="0" rIns="0" bIns="0" rtlCol="0" anchor="t"/>
          <a:lstStyle/>
          <a:p>
            <a:pPr marL="0" indent="0" algn="l">
              <a:lnSpc>
                <a:spcPts val="2138"/>
              </a:lnSpc>
              <a:buNone/>
            </a:pPr>
            <a:r>
              <a:rPr lang="en-US" sz="1710" b="1" kern="0" spc="-26" dirty="0">
                <a:solidFill>
                  <a:srgbClr val="2569ED">
                    <a:alpha val="99000"/>
                  </a:srgbClr>
                </a:solidFill>
                <a:latin typeface="Manrope" pitchFamily="34" charset="0"/>
                <a:ea typeface="Manrope" pitchFamily="34" charset="-122"/>
                <a:cs typeface="Manrope" pitchFamily="34" charset="-120"/>
              </a:rPr>
              <a:t>Тизим шифокорга тартибланган, тез ўқиладиган ва қарор қабул қилишни қўллаб-қувватловчи хулоса беради.</a:t>
            </a:r>
            <a:endParaRPr lang="en-US" sz="1710" dirty="0"/>
          </a:p>
        </p:txBody>
      </p:sp>
      <p:sp>
        <p:nvSpPr>
          <p:cNvPr id="5" name="Text 2"/>
          <p:cNvSpPr/>
          <p:nvPr/>
        </p:nvSpPr>
        <p:spPr>
          <a:xfrm>
            <a:off x="238125" y="695325"/>
            <a:ext cx="4252913" cy="2971800"/>
          </a:xfrm>
          <a:prstGeom prst="rect">
            <a:avLst/>
          </a:prstGeom>
          <a:noFill/>
          <a:ln/>
        </p:spPr>
        <p:txBody>
          <a:bodyPr wrap="square" lIns="0" tIns="0" rIns="0" bIns="0" rtlCol="0" anchor="t"/>
          <a:lstStyle/>
          <a:p>
            <a:pPr marL="0" indent="0" algn="l">
              <a:lnSpc>
                <a:spcPts val="1852"/>
              </a:lnSpc>
              <a:buNone/>
            </a:pPr>
            <a:r>
              <a:rPr lang="en-US" sz="1544" b="1" kern="0" spc="-23" dirty="0">
                <a:solidFill>
                  <a:srgbClr val="000614">
                    <a:alpha val="99000"/>
                  </a:srgbClr>
                </a:solidFill>
                <a:latin typeface="Manrope" pitchFamily="34" charset="0"/>
                <a:ea typeface="Manrope" pitchFamily="34" charset="-122"/>
                <a:cs typeface="Manrope" pitchFamily="34" charset="-120"/>
              </a:rPr>
              <a:t>Шифокорга 5 та асосий натижа тақдим этилади:</a:t>
            </a:r>
            <a:endParaRPr lang="en-US" sz="1544" dirty="0"/>
          </a:p>
          <a:p>
            <a:pPr marL="342900" indent="-342900" algn="l">
              <a:lnSpc>
                <a:spcPts val="1852"/>
              </a:lnSpc>
              <a:buSzPct val="100000"/>
              <a:buChar char="•"/>
            </a:pPr>
            <a:r>
              <a:rPr lang="en-US" sz="1544" b="1" kern="0" spc="-23" dirty="0">
                <a:solidFill>
                  <a:srgbClr val="000614">
                    <a:alpha val="99000"/>
                  </a:srgbClr>
                </a:solidFill>
                <a:latin typeface="Manrope" pitchFamily="34" charset="0"/>
                <a:ea typeface="Manrope" pitchFamily="34" charset="-122"/>
                <a:cs typeface="Manrope" pitchFamily="34" charset="-120"/>
              </a:rPr>
              <a:t>Хавф профили — бемордаги асосий хавф даражалари</a:t>
            </a:r>
            <a:endParaRPr lang="en-US" sz="1544" dirty="0"/>
          </a:p>
          <a:p>
            <a:pPr marL="342900" indent="-342900" algn="l">
              <a:lnSpc>
                <a:spcPts val="1852"/>
              </a:lnSpc>
              <a:buSzPct val="100000"/>
              <a:buChar char="•"/>
            </a:pPr>
            <a:r>
              <a:rPr lang="en-US" sz="1544" b="1" kern="0" spc="-23" dirty="0">
                <a:solidFill>
                  <a:srgbClr val="000614">
                    <a:alpha val="99000"/>
                  </a:srgbClr>
                </a:solidFill>
                <a:latin typeface="Manrope" pitchFamily="34" charset="0"/>
                <a:ea typeface="Manrope" pitchFamily="34" charset="-122"/>
                <a:cs typeface="Manrope" pitchFamily="34" charset="-120"/>
              </a:rPr>
              <a:t>Асосий гипотеза — энг эҳтимолий клиник ҳолат</a:t>
            </a:r>
            <a:endParaRPr lang="en-US" sz="1544" dirty="0"/>
          </a:p>
          <a:p>
            <a:pPr marL="342900" indent="-342900" algn="l">
              <a:lnSpc>
                <a:spcPts val="1852"/>
              </a:lnSpc>
              <a:buSzPct val="100000"/>
              <a:buChar char="•"/>
            </a:pPr>
            <a:r>
              <a:rPr lang="en-US" sz="1544" b="1" kern="0" spc="-23" dirty="0">
                <a:solidFill>
                  <a:srgbClr val="000614">
                    <a:alpha val="99000"/>
                  </a:srgbClr>
                </a:solidFill>
                <a:latin typeface="Manrope" pitchFamily="34" charset="0"/>
                <a:ea typeface="Manrope" pitchFamily="34" charset="-122"/>
                <a:cs typeface="Manrope" pitchFamily="34" charset="-120"/>
              </a:rPr>
              <a:t>Альтернатив ташхислар — бошқа эҳтимолий вариантлар</a:t>
            </a:r>
            <a:endParaRPr lang="en-US" sz="1544" dirty="0"/>
          </a:p>
          <a:p>
            <a:pPr marL="342900" indent="-342900" algn="l">
              <a:lnSpc>
                <a:spcPts val="1852"/>
              </a:lnSpc>
              <a:buSzPct val="100000"/>
              <a:buChar char="•"/>
            </a:pPr>
            <a:r>
              <a:rPr lang="en-US" sz="1544" b="1" kern="0" spc="-23" dirty="0">
                <a:solidFill>
                  <a:srgbClr val="000614">
                    <a:alpha val="99000"/>
                  </a:srgbClr>
                </a:solidFill>
                <a:latin typeface="Manrope" pitchFamily="34" charset="0"/>
                <a:ea typeface="Manrope" pitchFamily="34" charset="-122"/>
                <a:cs typeface="Manrope" pitchFamily="34" charset="-120"/>
              </a:rPr>
              <a:t>Қўшимча текширувлар — аниқликни ошириш учун тавсиялар</a:t>
            </a:r>
            <a:endParaRPr lang="en-US" sz="1544" dirty="0"/>
          </a:p>
          <a:p>
            <a:pPr marL="342900" indent="-342900" algn="l">
              <a:lnSpc>
                <a:spcPts val="1852"/>
              </a:lnSpc>
              <a:buSzPct val="100000"/>
              <a:buChar char="•"/>
            </a:pPr>
            <a:r>
              <a:rPr lang="en-US" sz="1544" b="1" kern="0" spc="-23" dirty="0">
                <a:solidFill>
                  <a:srgbClr val="000614">
                    <a:alpha val="99000"/>
                  </a:srgbClr>
                </a:solidFill>
                <a:latin typeface="Manrope" pitchFamily="34" charset="0"/>
                <a:ea typeface="Manrope" pitchFamily="34" charset="-122"/>
                <a:cs typeface="Manrope" pitchFamily="34" charset="-120"/>
              </a:rPr>
              <a:t>Қизил байроқлар — тезкор эътибор талаб қиладиган хавфлар</a:t>
            </a:r>
            <a:endParaRPr lang="en-US" sz="1544" dirty="0"/>
          </a:p>
        </p:txBody>
      </p:sp>
      <p:pic>
        <p:nvPicPr>
          <p:cNvPr id="6" name="Image 0" descr="preencoded.png"/>
          <p:cNvPicPr>
            <a:picLocks noChangeAspect="1"/>
          </p:cNvPicPr>
          <p:nvPr/>
        </p:nvPicPr>
        <p:blipFill>
          <a:blip r:embed="rId3"/>
          <a:srcRect/>
          <a:stretch/>
        </p:blipFill>
        <p:spPr>
          <a:xfrm>
            <a:off x="0" y="4762500"/>
            <a:ext cx="9144000" cy="381000"/>
          </a:xfrm>
          <a:prstGeom prst="rect">
            <a:avLst/>
          </a:prstGeom>
        </p:spPr>
      </p:pic>
      <p:pic>
        <p:nvPicPr>
          <p:cNvPr id="7" name="Image 1" descr="preencoded.png"/>
          <p:cNvPicPr>
            <a:picLocks noChangeAspect="1"/>
          </p:cNvPicPr>
          <p:nvPr/>
        </p:nvPicPr>
        <p:blipFill>
          <a:blip r:embed="rId4"/>
          <a:srcRect/>
          <a:stretch/>
        </p:blipFill>
        <p:spPr>
          <a:xfrm>
            <a:off x="5834063" y="0"/>
            <a:ext cx="3309938" cy="476726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BFF"/>
        </a:solidFill>
        <a:effectLst/>
      </p:bgPr>
    </p:bg>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rcRect/>
          <a:stretch/>
        </p:blipFill>
        <p:spPr>
          <a:xfrm>
            <a:off x="0" y="4762500"/>
            <a:ext cx="9144000" cy="381000"/>
          </a:xfrm>
          <a:prstGeom prst="rect">
            <a:avLst/>
          </a:prstGeom>
        </p:spPr>
      </p:pic>
      <p:pic>
        <p:nvPicPr>
          <p:cNvPr id="4" name="Image 1" descr="preencoded.png"/>
          <p:cNvPicPr>
            <a:picLocks noChangeAspect="1"/>
          </p:cNvPicPr>
          <p:nvPr/>
        </p:nvPicPr>
        <p:blipFill>
          <a:blip r:embed="rId4"/>
          <a:srcRect/>
          <a:stretch/>
        </p:blipFill>
        <p:spPr>
          <a:xfrm>
            <a:off x="109538" y="1262063"/>
            <a:ext cx="2757488" cy="3271838"/>
          </a:xfrm>
          <a:prstGeom prst="rect">
            <a:avLst/>
          </a:prstGeom>
        </p:spPr>
      </p:pic>
      <p:pic>
        <p:nvPicPr>
          <p:cNvPr id="5" name="Image 2" descr="preencoded.png"/>
          <p:cNvPicPr>
            <a:picLocks noChangeAspect="1"/>
          </p:cNvPicPr>
          <p:nvPr/>
        </p:nvPicPr>
        <p:blipFill>
          <a:blip r:embed="rId5"/>
          <a:srcRect/>
          <a:stretch/>
        </p:blipFill>
        <p:spPr>
          <a:xfrm>
            <a:off x="3067050" y="1262063"/>
            <a:ext cx="2909888" cy="3271838"/>
          </a:xfrm>
          <a:prstGeom prst="rect">
            <a:avLst/>
          </a:prstGeom>
        </p:spPr>
      </p:pic>
      <p:pic>
        <p:nvPicPr>
          <p:cNvPr id="6" name="Image 3" descr="preencoded.png"/>
          <p:cNvPicPr>
            <a:picLocks noChangeAspect="1"/>
          </p:cNvPicPr>
          <p:nvPr/>
        </p:nvPicPr>
        <p:blipFill>
          <a:blip r:embed="rId6"/>
          <a:srcRect/>
          <a:stretch/>
        </p:blipFill>
        <p:spPr>
          <a:xfrm>
            <a:off x="6176963" y="1262063"/>
            <a:ext cx="2852738" cy="3271838"/>
          </a:xfrm>
          <a:prstGeom prst="rect">
            <a:avLst/>
          </a:prstGeom>
        </p:spPr>
      </p:pic>
      <p:pic>
        <p:nvPicPr>
          <p:cNvPr id="7" name="Image 4" descr="preencoded.png"/>
          <p:cNvPicPr>
            <a:picLocks noChangeAspect="1"/>
          </p:cNvPicPr>
          <p:nvPr/>
        </p:nvPicPr>
        <p:blipFill>
          <a:blip r:embed="rId7"/>
          <a:srcRect/>
          <a:stretch/>
        </p:blipFill>
        <p:spPr>
          <a:xfrm>
            <a:off x="2371725" y="247650"/>
            <a:ext cx="4305300" cy="361950"/>
          </a:xfrm>
          <a:prstGeom prst="rect">
            <a:avLst/>
          </a:prstGeom>
        </p:spPr>
      </p:pic>
      <p:pic>
        <p:nvPicPr>
          <p:cNvPr id="8" name="Image 5" descr="preencoded.png"/>
          <p:cNvPicPr>
            <a:picLocks noChangeAspect="1"/>
          </p:cNvPicPr>
          <p:nvPr/>
        </p:nvPicPr>
        <p:blipFill>
          <a:blip r:embed="rId8"/>
          <a:srcRect/>
          <a:stretch/>
        </p:blipFill>
        <p:spPr>
          <a:xfrm>
            <a:off x="7696200" y="33338"/>
            <a:ext cx="1447800" cy="866775"/>
          </a:xfrm>
          <a:prstGeom prst="rect">
            <a:avLst/>
          </a:prstGeom>
        </p:spPr>
      </p:pic>
      <p:pic>
        <p:nvPicPr>
          <p:cNvPr id="9" name="Image 6" descr="preencoded.png"/>
          <p:cNvPicPr>
            <a:picLocks noChangeAspect="1"/>
          </p:cNvPicPr>
          <p:nvPr/>
        </p:nvPicPr>
        <p:blipFill>
          <a:blip r:embed="rId9"/>
          <a:srcRect/>
          <a:stretch/>
        </p:blipFill>
        <p:spPr>
          <a:xfrm>
            <a:off x="42863" y="33338"/>
            <a:ext cx="1138238" cy="86677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TotalTime>
  <Words>680</Words>
  <Application>Microsoft Office PowerPoint</Application>
  <PresentationFormat>On-screen Show (16:9)</PresentationFormat>
  <Paragraphs>39</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Manrope</vt:lpstr>
      <vt:lpstr>JetBrains Mono</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Aziz Nematov</cp:lastModifiedBy>
  <cp:revision>3</cp:revision>
  <dcterms:created xsi:type="dcterms:W3CDTF">2026-08-16T08:15:36Z</dcterms:created>
  <dcterms:modified xsi:type="dcterms:W3CDTF">2026-08-17T12:34:16Z</dcterms:modified>
</cp:coreProperties>
</file>